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5" r:id="rId16"/>
    <p:sldId id="258" r:id="rId9"/>
    <p:sldId id="266" r:id="rId17"/>
    <p:sldId id="259" r:id="rId10"/>
    <p:sldId id="267" r:id="rId18"/>
    <p:sldId id="260" r:id="rId11"/>
    <p:sldId id="261" r:id="rId12"/>
    <p:sldId id="262" r:id="rId13"/>
    <p:sldId id="268" r:id="rId19"/>
    <p:sldId id="269" r:id="rId20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82296" cy="502920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768096"/>
            <a:ext cx="91440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AI FLEZI  •  DOMAIN #15  •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91056"/>
            <a:ext cx="10515600" cy="9601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EAF2FF"/>
                </a:solidFill>
                <a:latin typeface="Aptos"/>
              </a:defRPr>
            </a:pPr>
            <a:r>
              <a:t>RetailIQ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8503920" cy="9326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72DED1"/>
                </a:solidFill>
                <a:latin typeface="Aptos"/>
              </a:defRPr>
            </a:pPr>
            <a:r>
              <a:t>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692640" cy="10515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2700" b="0">
                <a:solidFill>
                  <a:srgbClr val="EAF2FF"/>
                </a:solidFill>
                <a:latin typeface="Aptos"/>
              </a:defRPr>
            </a:pPr>
            <a:r>
              <a:t>Omnichannel Inventory Intelligence</a:t>
            </a:r>
          </a:p>
          <a:p>
            <a:pPr>
              <a:spcAft>
                <a:spcPts val="600"/>
              </a:spcAft>
              <a:defRPr sz="2700" b="0">
                <a:solidFill>
                  <a:srgbClr val="EAF2FF"/>
                </a:solidFill>
                <a:latin typeface="Aptos"/>
              </a:defRPr>
            </a:pPr>
            <a:r>
              <a:t>&amp; Conversational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577840"/>
            <a:ext cx="7132320" cy="557784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715000"/>
            <a:ext cx="6949440" cy="28346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9CADC6"/>
                </a:solidFill>
                <a:latin typeface="Aptos"/>
              </a:defRPr>
            </a:pPr>
            <a:r>
              <a:t>LOCAL DEMO   /   SQL ANALYTICS   /   PRODUCT RAG   /   LANGGRAPH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02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Why Retail / E-commerce?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Domain selection  ·  Electronics &amp; Accessories  ·  Omnichannel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14016"/>
            <a:ext cx="3493008" cy="242316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642616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578608"/>
            <a:ext cx="2944368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BUSINESS SETTING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18104"/>
            <a:ext cx="3054096" cy="1600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Online storefront + two physical stores + one warehouse. Products have many SKUs and technical specifications.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414016"/>
            <a:ext cx="3493008" cy="242316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642616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578608"/>
            <a:ext cx="2944368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STAKEHOLDERS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118104"/>
            <a:ext cx="3054096" cy="1600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Inventory planners, sales managers, store operators and merchandising specialists.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414016"/>
            <a:ext cx="3493008" cy="242316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642616"/>
            <a:ext cx="64008" cy="237744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2578608"/>
            <a:ext cx="2944368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3118104"/>
            <a:ext cx="3054096" cy="1600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Reduce manual report joins and ambiguous KPI answers. Business impact is not yet validated.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85232"/>
            <a:ext cx="10789920" cy="594360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31536"/>
            <a:ext cx="1024128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BF77"/>
                </a:solidFill>
                <a:latin typeface="Aptos"/>
              </a:defRPr>
            </a:pPr>
            <a:r>
              <a:t>NOTE  Synthetic retailer / synthetic sales data — not a claim about a real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04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Problem-first → measurable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What problem are we solving in Week 1?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59152"/>
            <a:ext cx="5212080" cy="299008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587752"/>
            <a:ext cx="64008" cy="237744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523744"/>
            <a:ext cx="4663440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AS-IS /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4773168" cy="21671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Analyst searches inventory sheets → opens sales reports → joins channel data → checks product descriptions → explains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2359152"/>
            <a:ext cx="5349240" cy="299008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2587752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523744"/>
            <a:ext cx="4800600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TO-BE / RETAILIQ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3063240"/>
            <a:ext cx="4910327" cy="21671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Ask in natural language → route to SQL or Product RAG → calculate governed metrics → show answer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25328" cy="475488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87568"/>
            <a:ext cx="1014984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AF2FF"/>
                </a:solidFill>
                <a:latin typeface="Aptos"/>
              </a:defRPr>
            </a:pPr>
            <a:r>
              <a:t>SCOPE GUARD: READ-ONLY. NO PRICE CHANGES, ORDER EXECUTION OR AUTONOMOUS DECISIONS IN W1.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06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Week 1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Structured facts via vetted SQL; unstructured product knowledge via vector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828800" cy="676656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0864"/>
            <a:ext cx="1508760" cy="28346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AF2FF"/>
                </a:solidFill>
                <a:latin typeface="Aptos"/>
              </a:defRPr>
            </a:pPr>
            <a:r>
              <a:t>Local Chat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94560"/>
            <a:ext cx="1965960" cy="676656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340864"/>
            <a:ext cx="1463040" cy="28346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AF2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9824" y="2194560"/>
            <a:ext cx="2029968" cy="676656"/>
          </a:xfrm>
          <a:prstGeom prst="roundRect">
            <a:avLst/>
          </a:prstGeom>
          <a:solidFill>
            <a:srgbClr val="20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6712" y="2331720"/>
            <a:ext cx="1581912" cy="28346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AF2FF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56231"/>
            <a:ext cx="3246120" cy="111556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965960"/>
            <a:ext cx="28346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2DED1"/>
                </a:solidFill>
                <a:latin typeface="Aptos"/>
              </a:defRPr>
            </a:pPr>
            <a:r>
              <a:t>SQL Analytics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59736"/>
            <a:ext cx="283464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SQLite / Inventory + 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273552"/>
            <a:ext cx="3246120" cy="10972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3374136"/>
            <a:ext cx="27432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BF77"/>
                </a:solidFill>
                <a:latin typeface="Aptos"/>
              </a:defRPr>
            </a:pPr>
            <a:r>
              <a:t>Product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840480"/>
            <a:ext cx="283464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Chroma + Product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267712"/>
            <a:ext cx="45720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72DE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267712"/>
            <a:ext cx="45720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72DE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267712"/>
            <a:ext cx="45720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72DE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3273552"/>
            <a:ext cx="45720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72DE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" y="4873752"/>
            <a:ext cx="5056632" cy="73152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074920"/>
            <a:ext cx="457200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AF2FF"/>
                </a:solidFill>
                <a:latin typeface="Aptos"/>
              </a:defRPr>
            </a:pPr>
            <a:r>
              <a:t>LangSmith  ·  tracing (enabled via API key)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2472" y="4873752"/>
            <a:ext cx="5239512" cy="73152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5074920"/>
            <a:ext cx="4681728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AF2FF"/>
                </a:solidFill>
                <a:latin typeface="Aptos"/>
              </a:defRPr>
            </a:pPr>
            <a:r>
              <a:t>RAGAS  ·  faithfulness + relevancy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5934456"/>
            <a:ext cx="1042416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4BF77"/>
                </a:solidFill>
                <a:latin typeface="Aptos"/>
              </a:defRPr>
            </a:pPr>
            <a:r>
              <a:t>Full mode needs dependencies + model credentials. Offline smoke demo is not a substitute.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08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Data contracts &amp;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Omnichannel means both store-level inventory and online + physical-store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304288"/>
            <a:ext cx="3474720" cy="26974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532888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2926079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008376"/>
            <a:ext cx="3035808" cy="18745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Available = on hand − reserved.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SKU × location.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Show timestamp and per-location breakdown.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04288"/>
            <a:ext cx="3474720" cy="26974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532888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468880"/>
            <a:ext cx="2926079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NET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08376"/>
            <a:ext cx="3035808" cy="18745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Completed orders only.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Sum(qty × price − discounts).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VND; before returns, taxes and shipping.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304288"/>
            <a:ext cx="3474720" cy="26974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2532888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468880"/>
            <a:ext cx="2926079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TOP SELLERS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008376"/>
            <a:ext cx="3035808" cy="18745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Rank by units sold, not by revenue.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Filter to completed orders.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Current configured calendar 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495544"/>
            <a:ext cx="1060704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2DED1"/>
                </a:solidFill>
                <a:latin typeface="Aptos"/>
              </a:defRPr>
            </a:pPr>
            <a:r>
              <a:t>DEMO SNAPSHOT: 2026-10-28  ·  10 PRODUCTS  ·  3 LOCATIONS  ·  120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09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Four queries, one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Live demo: 4 tasks mapped to the exact Week 1 project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2212848"/>
            <a:ext cx="10561320" cy="7680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386584"/>
            <a:ext cx="438912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377440"/>
            <a:ext cx="1828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9CADC6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50008"/>
            <a:ext cx="758952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AF2FF"/>
                </a:solidFill>
                <a:latin typeface="Aptos"/>
              </a:defRPr>
            </a:pPr>
            <a:r>
              <a:t>How many units of AlphaBook Pro 14 are currently in stock?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3145536"/>
            <a:ext cx="10561320" cy="7680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319272"/>
            <a:ext cx="438912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10128"/>
            <a:ext cx="1828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9CADC6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82696"/>
            <a:ext cx="758952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AF2FF"/>
                </a:solidFill>
                <a:latin typeface="Aptos"/>
              </a:defRPr>
            </a:pPr>
            <a:r>
              <a:t>What is the revenue this month?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78224"/>
            <a:ext cx="10561320" cy="7680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251960"/>
            <a:ext cx="438912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242816"/>
            <a:ext cx="1828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9CADC6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215384"/>
            <a:ext cx="758952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AF2FF"/>
                </a:solidFill>
                <a:latin typeface="Aptos"/>
              </a:defRPr>
            </a:pPr>
            <a:r>
              <a:t>Which products are top sellers?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" y="5010912"/>
            <a:ext cx="10561320" cy="7680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184648"/>
            <a:ext cx="438912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5175504"/>
            <a:ext cx="1828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9CADC6"/>
                </a:solidFill>
                <a:latin typeface="Aptos"/>
              </a:defRPr>
            </a:pPr>
            <a:r>
              <a:t>PRODUCT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148072"/>
            <a:ext cx="758952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AF2FF"/>
                </a:solidFill>
                <a:latin typeface="Aptos"/>
              </a:defRPr>
            </a:pPr>
            <a:r>
              <a:t>Tell me about USB-C GaN Charger 65W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10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Evidence, evaluation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Three distinct checks — do not mix deterministic correctness with LLM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350008"/>
            <a:ext cx="3511296" cy="251460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78608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14600"/>
            <a:ext cx="2962656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SQL &amp; BUSINESS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54096"/>
            <a:ext cx="3072384" cy="16916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Deterministic pytest checks stock math, completed-only revenue, ranking, intent and read-only 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350008"/>
            <a:ext cx="3511296" cy="251460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2578608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514600"/>
            <a:ext cx="2962656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RAGAS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054096"/>
            <a:ext cx="3072384" cy="16916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Faithfulness and answer relevancy over product questions. Requires provider key and full-mode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350008"/>
            <a:ext cx="3511296" cy="251460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578608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514600"/>
            <a:ext cx="2962656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LANGSMITH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54096"/>
            <a:ext cx="3072384" cy="16916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Record graph runs, prompt/tool calls and execution time. Requires credentials and tracing enabled.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" y="5303520"/>
            <a:ext cx="10680192" cy="676656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477256"/>
            <a:ext cx="10268712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VERIFIED NOW: 43 LOCAL TESTS PASS.  FULL-MODE INTEGRATION STILL NEEDS LOCAL CREDENTIAL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13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Four-week system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One codebase · mandatory capabilities added progressively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249424"/>
            <a:ext cx="5431536" cy="164592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478024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14016"/>
            <a:ext cx="4882896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W1  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953512"/>
            <a:ext cx="4992624" cy="8229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LangGraph + SQL + Product RAG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RAGAS · LangSmith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3" y="2249424"/>
            <a:ext cx="5431536" cy="164592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478024"/>
            <a:ext cx="64008" cy="237744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399" y="2414016"/>
            <a:ext cx="4882896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W2  CONVERSATIONAL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2953512"/>
            <a:ext cx="4992624" cy="8229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Freshness tiers · MCP inventory/order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Semantic layer · Memory · Hybrid 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4078224"/>
            <a:ext cx="5431536" cy="164592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4306824"/>
            <a:ext cx="64008" cy="237744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42816"/>
            <a:ext cx="4882896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W3  GOVERNED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782312"/>
            <a:ext cx="4992624" cy="8229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HITL pricing · Row security · KPI alerts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LangFuse · DeepEval · AgentOps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3" y="4078224"/>
            <a:ext cx="5431536" cy="164592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306824"/>
            <a:ext cx="64008" cy="237744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399" y="4242816"/>
            <a:ext cx="4882896" cy="3931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F2FF"/>
                </a:solidFill>
                <a:latin typeface="Aptos"/>
              </a:defRPr>
            </a:pPr>
            <a:r>
              <a:t>W4  RETAIL OPERATING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4782312"/>
            <a:ext cx="4992624" cy="8229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5 agents · A2A · Verification loop</a:t>
            </a:r>
          </a:p>
          <a:p>
            <a:pPr>
              <a:spcAft>
                <a:spcPts val="6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Order E2E + manager approval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14  /  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EAF2FF"/>
                </a:solidFill>
                <a:latin typeface="Aptos"/>
              </a:defRPr>
            </a:pPr>
            <a:r>
              <a:t>Week 1 demo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88136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9CADC6"/>
                </a:solidFill>
                <a:latin typeface="Aptos"/>
              </a:defRPr>
            </a:pPr>
            <a:r>
              <a:t>Deliver a scoped, reproducible local proof — not a full retailer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14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139696"/>
            <a:ext cx="10515600" cy="5394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49424"/>
            <a:ext cx="18288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2DED1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31136"/>
            <a:ext cx="80467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AF2FF"/>
                </a:solidFill>
                <a:latin typeface="Aptos"/>
              </a:defRPr>
            </a:pPr>
            <a:r>
              <a:t>SQLite seed + local API /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816352"/>
            <a:ext cx="10515600" cy="5394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926080"/>
            <a:ext cx="18288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2DED1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07792"/>
            <a:ext cx="80467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AF2FF"/>
                </a:solidFill>
                <a:latin typeface="Aptos"/>
              </a:defRPr>
            </a:pPr>
            <a:r>
              <a:t>43 deterministic + format tests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493008"/>
            <a:ext cx="10515600" cy="5394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602736"/>
            <a:ext cx="18288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2DED1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84448"/>
            <a:ext cx="80467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AF2FF"/>
                </a:solidFill>
                <a:latin typeface="Aptos"/>
              </a:defRPr>
            </a:pPr>
            <a:r>
              <a:t>Four demo question 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169663"/>
            <a:ext cx="10515600" cy="5394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279392"/>
            <a:ext cx="18288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BF77"/>
                </a:solidFill>
                <a:latin typeface="Aptos"/>
              </a:defRPr>
            </a:pPr>
            <a:r>
              <a:t>TO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261103"/>
            <a:ext cx="80467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AF2FF"/>
                </a:solidFill>
                <a:latin typeface="Aptos"/>
              </a:defRPr>
            </a:pPr>
            <a:r>
              <a:t>LangGraph + Chroma full-mode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846320"/>
            <a:ext cx="10515600" cy="53949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956048"/>
            <a:ext cx="18288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BF77"/>
                </a:solidFill>
                <a:latin typeface="Aptos"/>
              </a:defRPr>
            </a:pPr>
            <a:r>
              <a:t>TO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937759"/>
            <a:ext cx="80467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AF2FF"/>
                </a:solidFill>
                <a:latin typeface="Aptos"/>
              </a:defRPr>
            </a:pPr>
            <a:r>
              <a:t>RAGAS scores + LangSmith trace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" y="5824728"/>
            <a:ext cx="10561320" cy="393192"/>
          </a:xfrm>
          <a:prstGeom prst="roundRect">
            <a:avLst/>
          </a:prstGeom>
          <a:solidFill>
            <a:srgbClr val="20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879592"/>
            <a:ext cx="100584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AF2FF"/>
                </a:solidFill>
                <a:latin typeface="Aptos"/>
              </a:defRPr>
            </a:pPr>
            <a:r>
              <a:t>DEMO GOAL: accurate stock + revenue + bestsellers + sourced product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AF2FF"/>
                </a:solidFill>
                <a:latin typeface="Aptos"/>
              </a:defRPr>
            </a:pPr>
            <a:r>
              <a:t>FDE: discover → deploy →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Problem-first delivery, rooted in a retailer’s daily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76656" y="2414016"/>
            <a:ext cx="2724912" cy="2496312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633472"/>
            <a:ext cx="64008" cy="228600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2569464"/>
            <a:ext cx="2221991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AF2FF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72384"/>
            <a:ext cx="2340864" cy="1755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Electronics &amp; Accessories</a:t>
            </a:r>
          </a:p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Online + physical-store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4" y="2414016"/>
            <a:ext cx="2724912" cy="2496312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40" y="2633472"/>
            <a:ext cx="64008" cy="228600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2569464"/>
            <a:ext cx="2221991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AF2FF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3072384"/>
            <a:ext cx="2340864" cy="1755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Manual reporting hypothesis</a:t>
            </a:r>
          </a:p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Stakeholders and KPI definitions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2414016"/>
            <a:ext cx="2724912" cy="2496312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47688" y="2633472"/>
            <a:ext cx="64008" cy="228600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569464"/>
            <a:ext cx="2221991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AF2FF"/>
                </a:solidFill>
                <a:latin typeface="Aptos"/>
              </a:defRPr>
            </a:pPr>
            <a:r>
              <a:t>FIELD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072384"/>
            <a:ext cx="2340864" cy="1755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SQL analytics + Product RAG</a:t>
            </a:r>
          </a:p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4 customer-facing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2414016"/>
            <a:ext cx="2724912" cy="2496312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46336" y="2633472"/>
            <a:ext cx="64008" cy="228600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569464"/>
            <a:ext cx="2221991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AF2F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3072384"/>
            <a:ext cx="2340864" cy="1755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Test accuracy, review trace</a:t>
            </a:r>
          </a:p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Refine failure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" y="5294376"/>
            <a:ext cx="10661904" cy="704088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449824"/>
            <a:ext cx="1014984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EVIDENCE LIMIT: business scenario and observations are synthetic; no real customer interviews claimed.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AF2FF"/>
                </a:solidFill>
                <a:latin typeface="Aptos"/>
              </a:defRPr>
            </a:pPr>
            <a:r>
              <a:t>Harness architecture: 5 practical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Course concepts mapped to concrete RetailIQ modules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68096" y="2203704"/>
            <a:ext cx="10634472" cy="6400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04288"/>
            <a:ext cx="27889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1 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295144"/>
            <a:ext cx="3776472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AF2FF"/>
                </a:solidFill>
                <a:latin typeface="Aptos"/>
              </a:defRPr>
            </a:pPr>
            <a:r>
              <a:t>HTML Chat UI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3216" y="2322576"/>
            <a:ext cx="3566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CADC6"/>
                </a:solidFill>
                <a:latin typeface="Aptos"/>
              </a:defRPr>
            </a:pPr>
            <a:r>
              <a:t>Prompt, request validation,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2944368"/>
            <a:ext cx="10634472" cy="6400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44952"/>
            <a:ext cx="27889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2 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035808"/>
            <a:ext cx="3776472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AF2FF"/>
                </a:solidFill>
                <a:latin typeface="Aptos"/>
              </a:defRPr>
            </a:pPr>
            <a:r>
              <a:t>Graph State + KPI contracts + RAG chunks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3063240"/>
            <a:ext cx="3566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CADC6"/>
                </a:solidFill>
                <a:latin typeface="Aptos"/>
              </a:defRPr>
            </a:pPr>
            <a:r>
              <a:t>Only relevant data to each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685032"/>
            <a:ext cx="10634472" cy="6400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85616"/>
            <a:ext cx="27889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3 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776472"/>
            <a:ext cx="3776472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AF2FF"/>
                </a:solidFill>
                <a:latin typeface="Aptos"/>
              </a:defRPr>
            </a:pPr>
            <a:r>
              <a:t>LangGraph Router + conditional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3803904"/>
            <a:ext cx="3566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CADC6"/>
                </a:solidFill>
                <a:latin typeface="Aptos"/>
              </a:defRPr>
            </a:pPr>
            <a:r>
              <a:t>Explicit flow and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" y="4425696"/>
            <a:ext cx="10634472" cy="6400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27889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4  TOOLS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4517136"/>
            <a:ext cx="3776472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AF2FF"/>
                </a:solidFill>
                <a:latin typeface="Aptos"/>
              </a:defRPr>
            </a:pPr>
            <a:r>
              <a:t>Read-only SQL / Chroma Product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4544568"/>
            <a:ext cx="3566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CADC6"/>
                </a:solidFill>
                <a:latin typeface="Aptos"/>
              </a:defRPr>
            </a:pPr>
            <a:r>
              <a:t>Authoritative structured facts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" y="5166360"/>
            <a:ext cx="10634472" cy="64008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66944"/>
            <a:ext cx="27889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5  VERIFICATION &amp; 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5257800"/>
            <a:ext cx="3776472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AF2FF"/>
                </a:solidFill>
                <a:latin typeface="Aptos"/>
              </a:defRPr>
            </a:pPr>
            <a:r>
              <a:t>pytest / RAGAS / LangSmith /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5285232"/>
            <a:ext cx="3566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CADC6"/>
                </a:solidFill>
                <a:latin typeface="Aptos"/>
              </a:defRPr>
            </a:pPr>
            <a:r>
              <a:t>Testing, tracing and quality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AF2FF"/>
                </a:solidFill>
                <a:latin typeface="Aptos"/>
              </a:defRPr>
            </a:pPr>
            <a:r>
              <a:t>LangChain + LangGraph pattern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Demonstrate concept selection without pretending Week 1 is multi-agent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22376" y="2240280"/>
            <a:ext cx="5458968" cy="106984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219456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377440"/>
            <a:ext cx="1499616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CADC6"/>
                </a:solidFill>
                <a:latin typeface="Aptos"/>
              </a:defRPr>
            </a:pPr>
            <a:r>
              <a:t>CONCEPTUAL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761488"/>
            <a:ext cx="5047488" cy="35661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AF2FF"/>
                </a:solidFill>
                <a:latin typeface="Aptos"/>
              </a:defRPr>
            </a:pPr>
            <a:r>
              <a:t>Retrieval → context →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2240280"/>
            <a:ext cx="5458968" cy="106984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377440"/>
            <a:ext cx="219456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0696" y="2377440"/>
            <a:ext cx="1499616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CADC6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761488"/>
            <a:ext cx="5047488" cy="35661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AF2FF"/>
                </a:solidFill>
                <a:latin typeface="Aptos"/>
              </a:defRPr>
            </a:pPr>
            <a:r>
              <a:t>Stock / revenue / top /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3474720"/>
            <a:ext cx="5458968" cy="106984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11880"/>
            <a:ext cx="219456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CUSTOM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3611880"/>
            <a:ext cx="1499616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CADC6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5928"/>
            <a:ext cx="5047488" cy="35661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AF2FF"/>
                </a:solidFill>
                <a:latin typeface="Aptos"/>
              </a:defRPr>
            </a:pPr>
            <a:r>
              <a:t>LangGraph conditional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1656" y="3474720"/>
            <a:ext cx="5458968" cy="106984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611880"/>
            <a:ext cx="219456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2DED1"/>
                </a:solidFill>
                <a:latin typeface="Aptos"/>
              </a:defRPr>
            </a:pPr>
            <a:r>
              <a:t>TOOL-USING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0696" y="3611880"/>
            <a:ext cx="1499616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CADC6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3995928"/>
            <a:ext cx="5047488" cy="35661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AF2FF"/>
                </a:solidFill>
                <a:latin typeface="Aptos"/>
              </a:defRPr>
            </a:pPr>
            <a:r>
              <a:t>LangChain @tool for 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709160"/>
            <a:ext cx="5458968" cy="106984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219456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SUBAGENT / 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4846320"/>
            <a:ext cx="1499616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CADC6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230368"/>
            <a:ext cx="5047488" cy="35661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AF2FF"/>
                </a:solidFill>
                <a:latin typeface="Aptos"/>
              </a:defRPr>
            </a:pPr>
            <a:r>
              <a:t>Separate domain agents / transfers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91656" y="4709160"/>
            <a:ext cx="5458968" cy="1069848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846320"/>
            <a:ext cx="219456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0696" y="4846320"/>
            <a:ext cx="1499616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CADC6"/>
                </a:solidFill>
                <a:latin typeface="Aptos"/>
              </a:defRPr>
            </a:pPr>
            <a:r>
              <a:t>NOT IMPLEMENTED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5230368"/>
            <a:ext cx="5047488" cy="35661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AF2FF"/>
                </a:solidFill>
                <a:latin typeface="Aptos"/>
              </a:defRPr>
            </a:pPr>
            <a:r>
              <a:t>Load specialist guidance on 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AF2FF"/>
                </a:solidFill>
                <a:latin typeface="Aptos"/>
              </a:defRPr>
            </a:pPr>
            <a:r>
              <a:t>Agent cost &amp; ROI: assumptions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A worked financial model is required; no actual savings have been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85800" y="2276856"/>
            <a:ext cx="3401568" cy="241401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496312"/>
            <a:ext cx="64008" cy="228600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32304"/>
            <a:ext cx="2898648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AF2FF"/>
                </a:solidFill>
                <a:latin typeface="Aptos"/>
              </a:defRPr>
            </a:pPr>
            <a:r>
              <a:t>USAGE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35224"/>
            <a:ext cx="3017520" cy="1673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Monthly LLM: input tokens + output tokens; embeddings + evaluation + hosting/ops.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276856"/>
            <a:ext cx="3401568" cy="241401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496312"/>
            <a:ext cx="64008" cy="228600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32304"/>
            <a:ext cx="2898648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AF2FF"/>
                </a:solidFill>
                <a:latin typeface="Aptos"/>
              </a:defRPr>
            </a:pPr>
            <a:r>
              <a:t>ILLUSTRATIVE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935224"/>
            <a:ext cx="3017520" cy="1673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1,000 queries × 60% benefited × 4 minutes saved × 150k VND/hour = 6m VND.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276856"/>
            <a:ext cx="3401568" cy="2414016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2496312"/>
            <a:ext cx="64008" cy="228600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432304"/>
            <a:ext cx="2898648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AF2FF"/>
                </a:solidFill>
                <a:latin typeface="Aptos"/>
              </a:defRPr>
            </a:pPr>
            <a:r>
              <a:t>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2935224"/>
            <a:ext cx="3017520" cy="1673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CADC6"/>
                </a:solidFill>
                <a:latin typeface="Aptos"/>
              </a:defRPr>
            </a:pPr>
            <a:r>
              <a:t>Net benefit = 6m − 1.2m = 4.8m VND/month. Build cost 18m → 3.75 months.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65776"/>
            <a:ext cx="10607040" cy="905256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221224"/>
            <a:ext cx="1010412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4BF77"/>
                </a:solidFill>
                <a:latin typeface="Aptos"/>
              </a:defRPr>
            </a:pPr>
            <a:r>
              <a:t>ALL VALUES ARE ASSUMPTIONS. Actual ROI needs LangSmith tokens, current model rates, measured handling time and human QA.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11480"/>
            <a:ext cx="73152" cy="393192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2DED1"/>
                </a:solidFill>
                <a:latin typeface="Aptos"/>
              </a:defRPr>
            </a:pPr>
            <a:r>
              <a:t>RETAILIQ COPILOT  ·  FLEZI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EAF2FF"/>
                </a:solidFill>
                <a:latin typeface="Aptos"/>
              </a:defRPr>
            </a:pPr>
            <a:r>
              <a:t>Testing + limitations + next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What passed locally versus what still needs real provider and LangSmith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28816"/>
            <a:ext cx="10972800" cy="10972"/>
          </a:xfrm>
          <a:prstGeom prst="rect">
            <a:avLst/>
          </a:prstGeom>
          <a:solidFill>
            <a:srgbClr val="30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731520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DOMAIN #15  ·  RETAIL /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76656" y="2286000"/>
            <a:ext cx="5413248" cy="242316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505456"/>
            <a:ext cx="64008" cy="228600"/>
          </a:xfrm>
          <a:prstGeom prst="rect">
            <a:avLst/>
          </a:prstGeom>
          <a:solidFill>
            <a:srgbClr val="72D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2441448"/>
            <a:ext cx="4910328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AF2FF"/>
                </a:solidFill>
                <a:latin typeface="Aptos"/>
              </a:defRPr>
            </a:pPr>
            <a:r>
              <a:t>VERIFIED LOCALLY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44368"/>
            <a:ext cx="5029200" cy="1682495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43/43 pytest tests: SQL math, URL/key isolation, API root + 4 question flows, 8 document loaders, ROI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86000"/>
            <a:ext cx="5276088" cy="2423160"/>
          </a:xfrm>
          <a:prstGeom prst="round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2505456"/>
            <a:ext cx="64008" cy="228600"/>
          </a:xfrm>
          <a:prstGeom prst="rect">
            <a:avLst/>
          </a:prstGeom>
          <a:solidFill>
            <a:srgbClr val="F4B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41448"/>
            <a:ext cx="4773168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AF2FF"/>
                </a:solidFill>
                <a:latin typeface="Aptos"/>
              </a:defRPr>
            </a:pPr>
            <a:r>
              <a:t>REMAINING E2E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44368"/>
            <a:ext cx="4892040" cy="1682495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CADC6"/>
                </a:solidFill>
                <a:latin typeface="Aptos"/>
              </a:defRPr>
            </a:pPr>
            <a:r>
              <a:t>Full LangGraph + Chroma with real models; actual RAGAS scores; LangSmith trace with separate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5020056"/>
            <a:ext cx="10698480" cy="905256"/>
          </a:xfrm>
          <a:prstGeom prst="roundRect">
            <a:avLst/>
          </a:prstGeom>
          <a:solidFill>
            <a:srgbClr val="21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212080"/>
            <a:ext cx="10131552" cy="6126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4BF77"/>
                </a:solidFill>
                <a:latin typeface="Aptos"/>
              </a:defRPr>
            </a:pPr>
            <a:r>
              <a:t>RISKS: synthetic and snapshot data, ambiguous intent, RAG hallucination, no production authentication. W2/W3 address freshness and governance.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547104"/>
            <a:ext cx="731520" cy="21945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CADC6"/>
                </a:solidFill>
                <a:latin typeface="Aptos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