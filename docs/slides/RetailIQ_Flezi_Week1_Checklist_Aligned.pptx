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65" r:id="rId16"/>
    <p:sldId id="258" r:id="rId9"/>
    <p:sldId id="266" r:id="rId17"/>
    <p:sldId id="259" r:id="rId10"/>
    <p:sldId id="267" r:id="rId18"/>
    <p:sldId id="260" r:id="rId11"/>
    <p:sldId id="261" r:id="rId12"/>
    <p:sldId id="262" r:id="rId13"/>
    <p:sldId id="268" r:id="rId19"/>
    <p:sldId id="269" r:id="rId20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731520"/>
            <a:ext cx="82296" cy="502920"/>
          </a:xfrm>
          <a:prstGeom prst="rect">
            <a:avLst/>
          </a:prstGeom>
          <a:solidFill>
            <a:srgbClr val="72DE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768096"/>
            <a:ext cx="9144000" cy="320040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72DED1"/>
                </a:solidFill>
                <a:latin typeface="Aptos"/>
              </a:defRPr>
            </a:pPr>
            <a:r>
              <a:t>AI FLEZI  •  DOMAIN #15  •  WEEK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91056"/>
            <a:ext cx="10515600" cy="960120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5400" b="1">
                <a:solidFill>
                  <a:srgbClr val="EAF2FF"/>
                </a:solidFill>
                <a:latin typeface="Aptos"/>
              </a:defRPr>
            </a:pPr>
            <a:r>
              <a:t>RetailIQ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42032"/>
            <a:ext cx="8503920" cy="932688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5400" b="1">
                <a:solidFill>
                  <a:srgbClr val="72DED1"/>
                </a:solidFill>
                <a:latin typeface="Aptos"/>
              </a:defRPr>
            </a:pPr>
            <a:r>
              <a:t>Copilot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703320"/>
            <a:ext cx="9692640" cy="1051560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2700" b="0">
                <a:solidFill>
                  <a:srgbClr val="EAF2FF"/>
                </a:solidFill>
                <a:latin typeface="Aptos"/>
              </a:defRPr>
            </a:pPr>
            <a:r>
              <a:t>Omnichannel Inventory Intelligence</a:t>
            </a:r>
          </a:p>
          <a:p>
            <a:pPr>
              <a:spcAft>
                <a:spcPts val="600"/>
              </a:spcAft>
              <a:defRPr sz="2700" b="0">
                <a:solidFill>
                  <a:srgbClr val="EAF2FF"/>
                </a:solidFill>
                <a:latin typeface="Aptos"/>
              </a:defRPr>
            </a:pPr>
            <a:r>
              <a:t>&amp; Conversational Analytics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5577840"/>
            <a:ext cx="7132320" cy="557784"/>
          </a:xfrm>
          <a:prstGeom prst="roundRect">
            <a:avLst/>
          </a:prstGeom>
          <a:solidFill>
            <a:srgbClr val="172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5715000"/>
            <a:ext cx="6949440" cy="283464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9CADC6"/>
                </a:solidFill>
                <a:latin typeface="Aptos"/>
              </a:defRPr>
            </a:pPr>
            <a:r>
              <a:t>LOCAL DEMO   /   SQL ANALYTICS   /   PRODUCT RAG   /   LANGGRAPH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38912" y="411480"/>
            <a:ext cx="73152" cy="393192"/>
          </a:xfrm>
          <a:prstGeom prst="rect">
            <a:avLst/>
          </a:prstGeom>
          <a:solidFill>
            <a:srgbClr val="72DE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8229600" cy="320040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72DED1"/>
                </a:solidFill>
                <a:latin typeface="Aptos"/>
              </a:defRPr>
            </a:pPr>
            <a:r>
              <a:t>02  /  RETAILIQ COPILOT  ·  FLEZI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987552"/>
            <a:ext cx="10972800" cy="612648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3100" b="1">
                <a:solidFill>
                  <a:srgbClr val="EAF2FF"/>
                </a:solidFill>
                <a:latin typeface="Aptos"/>
              </a:defRPr>
            </a:pPr>
            <a:r>
              <a:t>Why Retail / E-commerce?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09928"/>
            <a:ext cx="10881360" cy="493776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9CADC6"/>
                </a:solidFill>
                <a:latin typeface="Aptos"/>
              </a:defRPr>
            </a:pPr>
            <a:r>
              <a:t>Domain selection  ·  Electronics &amp; Accessories  ·  Omnichannel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6528816"/>
            <a:ext cx="10972800" cy="10972"/>
          </a:xfrm>
          <a:prstGeom prst="rect">
            <a:avLst/>
          </a:prstGeom>
          <a:solidFill>
            <a:srgbClr val="3042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47104"/>
            <a:ext cx="7315200" cy="219456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9CADC6"/>
                </a:solidFill>
                <a:latin typeface="Aptos"/>
              </a:defRPr>
            </a:pPr>
            <a:r>
              <a:t>DOMAIN #15  ·  RETAIL / E-COMMERCE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547104"/>
            <a:ext cx="731520" cy="219456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9CADC6"/>
                </a:solidFill>
                <a:latin typeface="Aptos"/>
              </a:defRPr>
            </a:pPr>
            <a:r>
              <a:t>02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414016"/>
            <a:ext cx="3493008" cy="2423160"/>
          </a:xfrm>
          <a:prstGeom prst="roundRect">
            <a:avLst/>
          </a:prstGeom>
          <a:solidFill>
            <a:srgbClr val="172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68680" y="2642616"/>
            <a:ext cx="64008" cy="237744"/>
          </a:xfrm>
          <a:prstGeom prst="rect">
            <a:avLst/>
          </a:prstGeom>
          <a:solidFill>
            <a:srgbClr val="72DE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6" y="2578608"/>
            <a:ext cx="2944368" cy="393192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EAF2FF"/>
                </a:solidFill>
                <a:latin typeface="Aptos"/>
              </a:defRPr>
            </a:pPr>
            <a:r>
              <a:t>BUSINESS SETTING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118104"/>
            <a:ext cx="3054096" cy="1600200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9CADC6"/>
                </a:solidFill>
                <a:latin typeface="Aptos"/>
              </a:defRPr>
            </a:pPr>
            <a:r>
              <a:t>Online storefront + two physical stores + one warehouse. Products have many SKUs and technical specifications.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5112" y="2414016"/>
            <a:ext cx="3493008" cy="2423160"/>
          </a:xfrm>
          <a:prstGeom prst="roundRect">
            <a:avLst/>
          </a:prstGeom>
          <a:solidFill>
            <a:srgbClr val="172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07992" y="2642616"/>
            <a:ext cx="64008" cy="237744"/>
          </a:xfrm>
          <a:prstGeom prst="rect">
            <a:avLst/>
          </a:prstGeom>
          <a:solidFill>
            <a:srgbClr val="72DE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81728" y="2578608"/>
            <a:ext cx="2944368" cy="393192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EAF2FF"/>
                </a:solidFill>
                <a:latin typeface="Aptos"/>
              </a:defRPr>
            </a:pPr>
            <a:r>
              <a:t>STAKEHOLDERS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3712" y="3118104"/>
            <a:ext cx="3054096" cy="1600200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9CADC6"/>
                </a:solidFill>
                <a:latin typeface="Aptos"/>
              </a:defRPr>
            </a:pPr>
            <a:r>
              <a:t>Inventory planners, sales managers, store operators and merchandising specialists.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73568" y="2414016"/>
            <a:ext cx="3493008" cy="2423160"/>
          </a:xfrm>
          <a:prstGeom prst="roundRect">
            <a:avLst/>
          </a:prstGeom>
          <a:solidFill>
            <a:srgbClr val="172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56448" y="2642616"/>
            <a:ext cx="64008" cy="237744"/>
          </a:xfrm>
          <a:prstGeom prst="rect">
            <a:avLst/>
          </a:prstGeom>
          <a:solidFill>
            <a:srgbClr val="F4B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0184" y="2578608"/>
            <a:ext cx="2944368" cy="393192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EAF2FF"/>
                </a:solidFill>
                <a:latin typeface="Aptos"/>
              </a:defRPr>
            </a:pPr>
            <a:r>
              <a:t>VALUE HYPOTHESIS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2168" y="3118104"/>
            <a:ext cx="3054096" cy="1600200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9CADC6"/>
                </a:solidFill>
                <a:latin typeface="Aptos"/>
              </a:defRPr>
            </a:pPr>
            <a:r>
              <a:t>Reduce manual report joins and ambiguous KPI answers. Business impact is not yet validated.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5285232"/>
            <a:ext cx="10789920" cy="594360"/>
          </a:xfrm>
          <a:prstGeom prst="roundRect">
            <a:avLst/>
          </a:prstGeom>
          <a:solidFill>
            <a:srgbClr val="213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431536"/>
            <a:ext cx="10241280" cy="320040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F4BF77"/>
                </a:solidFill>
                <a:latin typeface="Aptos"/>
              </a:defRPr>
            </a:pPr>
            <a:r>
              <a:t>NOTE  Synthetic retailer / synthetic sales data — not a claim about a real business.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38912" y="411480"/>
            <a:ext cx="73152" cy="393192"/>
          </a:xfrm>
          <a:prstGeom prst="rect">
            <a:avLst/>
          </a:prstGeom>
          <a:solidFill>
            <a:srgbClr val="72DE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8229600" cy="320040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72DED1"/>
                </a:solidFill>
                <a:latin typeface="Aptos"/>
              </a:defRPr>
            </a:pPr>
            <a:r>
              <a:t>04  /  RETAILIQ COPILOT  ·  FLEZI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987552"/>
            <a:ext cx="10972800" cy="612648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3100" b="1">
                <a:solidFill>
                  <a:srgbClr val="EAF2FF"/>
                </a:solidFill>
                <a:latin typeface="Aptos"/>
              </a:defRPr>
            </a:pPr>
            <a:r>
              <a:t>Problem-first → measurable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09928"/>
            <a:ext cx="10881360" cy="493776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9CADC6"/>
                </a:solidFill>
                <a:latin typeface="Aptos"/>
              </a:defRPr>
            </a:pPr>
            <a:r>
              <a:t>What problem are we solving in Week 1?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6528816"/>
            <a:ext cx="10972800" cy="10972"/>
          </a:xfrm>
          <a:prstGeom prst="rect">
            <a:avLst/>
          </a:prstGeom>
          <a:solidFill>
            <a:srgbClr val="3042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47104"/>
            <a:ext cx="7315200" cy="219456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9CADC6"/>
                </a:solidFill>
                <a:latin typeface="Aptos"/>
              </a:defRPr>
            </a:pPr>
            <a:r>
              <a:t>DOMAIN #15  ·  RETAIL / E-COMMERCE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547104"/>
            <a:ext cx="731520" cy="219456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9CADC6"/>
                </a:solidFill>
                <a:latin typeface="Aptos"/>
              </a:defRPr>
            </a:pPr>
            <a:r>
              <a:t>04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359152"/>
            <a:ext cx="5212080" cy="2990088"/>
          </a:xfrm>
          <a:prstGeom prst="roundRect">
            <a:avLst/>
          </a:prstGeom>
          <a:solidFill>
            <a:srgbClr val="172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68680" y="2587752"/>
            <a:ext cx="64008" cy="237744"/>
          </a:xfrm>
          <a:prstGeom prst="rect">
            <a:avLst/>
          </a:prstGeom>
          <a:solidFill>
            <a:srgbClr val="F4B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6" y="2523744"/>
            <a:ext cx="4663440" cy="393192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EAF2FF"/>
                </a:solidFill>
                <a:latin typeface="Aptos"/>
              </a:defRPr>
            </a:pPr>
            <a:r>
              <a:t>AS-IS / MANUAL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063240"/>
            <a:ext cx="4773168" cy="2167128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9CADC6"/>
                </a:solidFill>
                <a:latin typeface="Aptos"/>
              </a:defRPr>
            </a:pPr>
            <a:r>
              <a:t>Analyst searches inventory sheets → opens sales reports → joins channel data → checks product descriptions → explains results.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71616" y="2359152"/>
            <a:ext cx="5349240" cy="2990088"/>
          </a:xfrm>
          <a:prstGeom prst="roundRect">
            <a:avLst/>
          </a:prstGeom>
          <a:solidFill>
            <a:srgbClr val="172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54496" y="2587752"/>
            <a:ext cx="64008" cy="237744"/>
          </a:xfrm>
          <a:prstGeom prst="rect">
            <a:avLst/>
          </a:prstGeom>
          <a:solidFill>
            <a:srgbClr val="72DE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8231" y="2523744"/>
            <a:ext cx="4800600" cy="393192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EAF2FF"/>
                </a:solidFill>
                <a:latin typeface="Aptos"/>
              </a:defRPr>
            </a:pPr>
            <a:r>
              <a:t>TO-BE / RETAILIQ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0216" y="3063240"/>
            <a:ext cx="4910327" cy="2167128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9CADC6"/>
                </a:solidFill>
                <a:latin typeface="Aptos"/>
              </a:defRPr>
            </a:pPr>
            <a:r>
              <a:t>Ask in natural language → route to SQL or Product RAG → calculate governed metrics → show answer and evidence.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577840"/>
            <a:ext cx="10625328" cy="475488"/>
          </a:xfrm>
          <a:prstGeom prst="roundRect">
            <a:avLst/>
          </a:prstGeom>
          <a:solidFill>
            <a:srgbClr val="213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687568"/>
            <a:ext cx="10149840" cy="274320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EAF2FF"/>
                </a:solidFill>
                <a:latin typeface="Aptos"/>
              </a:defRPr>
            </a:pPr>
            <a:r>
              <a:t>SCOPE GUARD: READ-ONLY. NO PRICE CHANGES, ORDER EXECUTION OR AUTONOMOUS DECISIONS IN W1.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38912" y="411480"/>
            <a:ext cx="73152" cy="393192"/>
          </a:xfrm>
          <a:prstGeom prst="rect">
            <a:avLst/>
          </a:prstGeom>
          <a:solidFill>
            <a:srgbClr val="72DE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8229600" cy="320040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72DED1"/>
                </a:solidFill>
                <a:latin typeface="Aptos"/>
              </a:defRPr>
            </a:pPr>
            <a:r>
              <a:t>06  /  RETAILIQ COPILOT  ·  FLEZI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987552"/>
            <a:ext cx="10972800" cy="612648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3100" b="1">
                <a:solidFill>
                  <a:srgbClr val="EAF2FF"/>
                </a:solidFill>
                <a:latin typeface="Aptos"/>
              </a:defRPr>
            </a:pPr>
            <a:r>
              <a:t>Week 1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09928"/>
            <a:ext cx="10881360" cy="493776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9CADC6"/>
                </a:solidFill>
                <a:latin typeface="Aptos"/>
              </a:defRPr>
            </a:pPr>
            <a:r>
              <a:t>Structured facts via vetted SQL; unstructured product knowledge via vector retrieval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6528816"/>
            <a:ext cx="10972800" cy="10972"/>
          </a:xfrm>
          <a:prstGeom prst="rect">
            <a:avLst/>
          </a:prstGeom>
          <a:solidFill>
            <a:srgbClr val="3042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47104"/>
            <a:ext cx="7315200" cy="219456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9CADC6"/>
                </a:solidFill>
                <a:latin typeface="Aptos"/>
              </a:defRPr>
            </a:pPr>
            <a:r>
              <a:t>DOMAIN #15  ·  RETAIL / E-COMMERCE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547104"/>
            <a:ext cx="731520" cy="219456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9CADC6"/>
                </a:solidFill>
                <a:latin typeface="Aptos"/>
              </a:defRPr>
            </a:pPr>
            <a:r>
              <a:t>06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194560"/>
            <a:ext cx="1828800" cy="676656"/>
          </a:xfrm>
          <a:prstGeom prst="roundRect">
            <a:avLst/>
          </a:prstGeom>
          <a:solidFill>
            <a:srgbClr val="213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340864"/>
            <a:ext cx="1508760" cy="283464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EAF2FF"/>
                </a:solidFill>
                <a:latin typeface="Aptos"/>
              </a:defRPr>
            </a:pPr>
            <a:r>
              <a:t>Local Chat UI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17520" y="2194560"/>
            <a:ext cx="1965960" cy="676656"/>
          </a:xfrm>
          <a:prstGeom prst="roundRect">
            <a:avLst/>
          </a:prstGeom>
          <a:solidFill>
            <a:srgbClr val="213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19272" y="2340864"/>
            <a:ext cx="1463040" cy="283464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EAF2FF"/>
                </a:solidFill>
                <a:latin typeface="Aptos"/>
              </a:defRPr>
            </a:pPr>
            <a:r>
              <a:t>FastAPI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49824" y="2194560"/>
            <a:ext cx="2029968" cy="676656"/>
          </a:xfrm>
          <a:prstGeom prst="roundRect">
            <a:avLst/>
          </a:prstGeom>
          <a:solidFill>
            <a:srgbClr val="204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96712" y="2331720"/>
            <a:ext cx="1581912" cy="283464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EAF2FF"/>
                </a:solidFill>
                <a:latin typeface="Aptos"/>
              </a:defRPr>
            </a:pPr>
            <a:r>
              <a:t>LangGraph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856231"/>
            <a:ext cx="3246120" cy="1115568"/>
          </a:xfrm>
          <a:prstGeom prst="roundRect">
            <a:avLst/>
          </a:prstGeom>
          <a:solidFill>
            <a:srgbClr val="172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7" y="1965960"/>
            <a:ext cx="2834640" cy="365760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72DED1"/>
                </a:solidFill>
                <a:latin typeface="Aptos"/>
              </a:defRPr>
            </a:pPr>
            <a:r>
              <a:t>SQL Analytics Tool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459736"/>
            <a:ext cx="2834640" cy="310896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9CADC6"/>
                </a:solidFill>
                <a:latin typeface="Aptos"/>
              </a:defRPr>
            </a:pPr>
            <a:r>
              <a:t>SQLite / Inventory + Sales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3273552"/>
            <a:ext cx="3246120" cy="1097280"/>
          </a:xfrm>
          <a:prstGeom prst="roundRect">
            <a:avLst/>
          </a:prstGeom>
          <a:solidFill>
            <a:srgbClr val="172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9327" y="3374136"/>
            <a:ext cx="2743200" cy="365760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F4BF77"/>
                </a:solidFill>
                <a:latin typeface="Aptos"/>
              </a:defRPr>
            </a:pPr>
            <a:r>
              <a:t>Product RAG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9327" y="3840480"/>
            <a:ext cx="2834640" cy="292608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9CADC6"/>
                </a:solidFill>
                <a:latin typeface="Aptos"/>
              </a:defRPr>
            </a:pPr>
            <a:r>
              <a:t>Chroma + Product Docs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06040" y="2267712"/>
            <a:ext cx="457200" cy="411480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2400" b="1">
                <a:solidFill>
                  <a:srgbClr val="72DED1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47488" y="2267712"/>
            <a:ext cx="457200" cy="411480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2400" b="1">
                <a:solidFill>
                  <a:srgbClr val="72DED1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16952" y="2267712"/>
            <a:ext cx="457200" cy="411480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2400" b="1">
                <a:solidFill>
                  <a:srgbClr val="72DED1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16952" y="3273552"/>
            <a:ext cx="457200" cy="411480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2400" b="1">
                <a:solidFill>
                  <a:srgbClr val="72DED1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0664" y="4873752"/>
            <a:ext cx="5056632" cy="731520"/>
          </a:xfrm>
          <a:prstGeom prst="roundRect">
            <a:avLst/>
          </a:prstGeom>
          <a:solidFill>
            <a:srgbClr val="172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9264" y="5074920"/>
            <a:ext cx="4572000" cy="338328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EAF2FF"/>
                </a:solidFill>
                <a:latin typeface="Aptos"/>
              </a:defRPr>
            </a:pPr>
            <a:r>
              <a:t>LangSmith  ·  tracing (enabled via API key)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62472" y="4873752"/>
            <a:ext cx="5239512" cy="731520"/>
          </a:xfrm>
          <a:prstGeom prst="roundRect">
            <a:avLst/>
          </a:prstGeom>
          <a:solidFill>
            <a:srgbClr val="172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18504" y="5074920"/>
            <a:ext cx="4681728" cy="338328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EAF2FF"/>
                </a:solidFill>
                <a:latin typeface="Aptos"/>
              </a:defRPr>
            </a:pPr>
            <a:r>
              <a:t>RAGAS  ·  faithfulness + relevancy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6" y="5934456"/>
            <a:ext cx="10424160" cy="347472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F4BF77"/>
                </a:solidFill>
                <a:latin typeface="Aptos"/>
              </a:defRPr>
            </a:pPr>
            <a:r>
              <a:t>Full mode needs dependencies + model credentials. Offline smoke demo is not a substitute.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38912" y="411480"/>
            <a:ext cx="73152" cy="393192"/>
          </a:xfrm>
          <a:prstGeom prst="rect">
            <a:avLst/>
          </a:prstGeom>
          <a:solidFill>
            <a:srgbClr val="72DE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8229600" cy="320040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72DED1"/>
                </a:solidFill>
                <a:latin typeface="Aptos"/>
              </a:defRPr>
            </a:pPr>
            <a:r>
              <a:t>08  /  RETAILIQ COPILOT  ·  FLEZI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987552"/>
            <a:ext cx="10972800" cy="612648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3100" b="1">
                <a:solidFill>
                  <a:srgbClr val="EAF2FF"/>
                </a:solidFill>
                <a:latin typeface="Aptos"/>
              </a:defRPr>
            </a:pPr>
            <a:r>
              <a:t>Data contracts &amp; source of truth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09928"/>
            <a:ext cx="10881360" cy="493776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9CADC6"/>
                </a:solidFill>
                <a:latin typeface="Aptos"/>
              </a:defRPr>
            </a:pPr>
            <a:r>
              <a:t>Omnichannel means both store-level inventory and online + physical-store sales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6528816"/>
            <a:ext cx="10972800" cy="10972"/>
          </a:xfrm>
          <a:prstGeom prst="rect">
            <a:avLst/>
          </a:prstGeom>
          <a:solidFill>
            <a:srgbClr val="3042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47104"/>
            <a:ext cx="7315200" cy="219456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9CADC6"/>
                </a:solidFill>
                <a:latin typeface="Aptos"/>
              </a:defRPr>
            </a:pPr>
            <a:r>
              <a:t>DOMAIN #15  ·  RETAIL / E-COMMERCE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547104"/>
            <a:ext cx="731520" cy="219456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9CADC6"/>
                </a:solidFill>
                <a:latin typeface="Aptos"/>
              </a:defRPr>
            </a:pPr>
            <a:r>
              <a:t>08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" y="2304288"/>
            <a:ext cx="3474720" cy="2697480"/>
          </a:xfrm>
          <a:prstGeom prst="roundRect">
            <a:avLst/>
          </a:prstGeom>
          <a:solidFill>
            <a:srgbClr val="172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77824" y="2532888"/>
            <a:ext cx="64008" cy="237744"/>
          </a:xfrm>
          <a:prstGeom prst="rect">
            <a:avLst/>
          </a:prstGeom>
          <a:solidFill>
            <a:srgbClr val="72DE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468880"/>
            <a:ext cx="2926079" cy="393192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EAF2FF"/>
                </a:solidFill>
                <a:latin typeface="Aptos"/>
              </a:defRPr>
            </a:pPr>
            <a:r>
              <a:t>INVENTORY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" y="3008376"/>
            <a:ext cx="3035808" cy="1874520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9CADC6"/>
                </a:solidFill>
                <a:latin typeface="Aptos"/>
              </a:defRPr>
            </a:pPr>
            <a:r>
              <a:t>Available = on hand − reserved.</a:t>
            </a:r>
          </a:p>
          <a:p>
            <a:pPr>
              <a:spcAft>
                <a:spcPts val="600"/>
              </a:spcAft>
              <a:defRPr sz="1400" b="0">
                <a:solidFill>
                  <a:srgbClr val="9CADC6"/>
                </a:solidFill>
                <a:latin typeface="Aptos"/>
              </a:defRPr>
            </a:pPr>
            <a:r>
              <a:t>SKU × location.</a:t>
            </a:r>
          </a:p>
          <a:p>
            <a:pPr>
              <a:spcAft>
                <a:spcPts val="600"/>
              </a:spcAft>
              <a:defRPr sz="1400" b="0">
                <a:solidFill>
                  <a:srgbClr val="9CADC6"/>
                </a:solidFill>
                <a:latin typeface="Aptos"/>
              </a:defRPr>
            </a:pPr>
            <a:r>
              <a:t>Show timestamp and per-location breakdown.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2304288"/>
            <a:ext cx="3474720" cy="2697480"/>
          </a:xfrm>
          <a:prstGeom prst="roundRect">
            <a:avLst/>
          </a:prstGeom>
          <a:solidFill>
            <a:srgbClr val="172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26280" y="2532888"/>
            <a:ext cx="64008" cy="237744"/>
          </a:xfrm>
          <a:prstGeom prst="rect">
            <a:avLst/>
          </a:prstGeom>
          <a:solidFill>
            <a:srgbClr val="72DE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0016" y="2468880"/>
            <a:ext cx="2926079" cy="393192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EAF2FF"/>
                </a:solidFill>
                <a:latin typeface="Aptos"/>
              </a:defRPr>
            </a:pPr>
            <a:r>
              <a:t>NET REVENUE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008376"/>
            <a:ext cx="3035808" cy="1874520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9CADC6"/>
                </a:solidFill>
                <a:latin typeface="Aptos"/>
              </a:defRPr>
            </a:pPr>
            <a:r>
              <a:t>Completed orders only.</a:t>
            </a:r>
          </a:p>
          <a:p>
            <a:pPr>
              <a:spcAft>
                <a:spcPts val="600"/>
              </a:spcAft>
              <a:defRPr sz="1400" b="0">
                <a:solidFill>
                  <a:srgbClr val="9CADC6"/>
                </a:solidFill>
                <a:latin typeface="Aptos"/>
              </a:defRPr>
            </a:pPr>
            <a:r>
              <a:t>Sum(qty × price − discounts).</a:t>
            </a:r>
          </a:p>
          <a:p>
            <a:pPr>
              <a:spcAft>
                <a:spcPts val="600"/>
              </a:spcAft>
              <a:defRPr sz="1400" b="0">
                <a:solidFill>
                  <a:srgbClr val="9CADC6"/>
                </a:solidFill>
                <a:latin typeface="Aptos"/>
              </a:defRPr>
            </a:pPr>
            <a:r>
              <a:t>VND; before returns, taxes and shipping.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91856" y="2304288"/>
            <a:ext cx="3474720" cy="2697480"/>
          </a:xfrm>
          <a:prstGeom prst="roundRect">
            <a:avLst/>
          </a:prstGeom>
          <a:solidFill>
            <a:srgbClr val="172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74736" y="2532888"/>
            <a:ext cx="64008" cy="237744"/>
          </a:xfrm>
          <a:prstGeom prst="rect">
            <a:avLst/>
          </a:prstGeom>
          <a:solidFill>
            <a:srgbClr val="72DE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48472" y="2468880"/>
            <a:ext cx="2926079" cy="393192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EAF2FF"/>
                </a:solidFill>
                <a:latin typeface="Aptos"/>
              </a:defRPr>
            </a:pPr>
            <a:r>
              <a:t>TOP SELLERS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0456" y="3008376"/>
            <a:ext cx="3035808" cy="1874520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9CADC6"/>
                </a:solidFill>
                <a:latin typeface="Aptos"/>
              </a:defRPr>
            </a:pPr>
            <a:r>
              <a:t>Rank by units sold, not by revenue.</a:t>
            </a:r>
          </a:p>
          <a:p>
            <a:pPr>
              <a:spcAft>
                <a:spcPts val="600"/>
              </a:spcAft>
              <a:defRPr sz="1400" b="0">
                <a:solidFill>
                  <a:srgbClr val="9CADC6"/>
                </a:solidFill>
                <a:latin typeface="Aptos"/>
              </a:defRPr>
            </a:pPr>
            <a:r>
              <a:t>Filter to completed orders.</a:t>
            </a:r>
          </a:p>
          <a:p>
            <a:pPr>
              <a:spcAft>
                <a:spcPts val="600"/>
              </a:spcAft>
              <a:defRPr sz="1400" b="0">
                <a:solidFill>
                  <a:srgbClr val="9CADC6"/>
                </a:solidFill>
                <a:latin typeface="Aptos"/>
              </a:defRPr>
            </a:pPr>
            <a:r>
              <a:t>Current configured calendar month.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" y="5495544"/>
            <a:ext cx="10607040" cy="384048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72DED1"/>
                </a:solidFill>
                <a:latin typeface="Aptos"/>
              </a:defRPr>
            </a:pPr>
            <a:r>
              <a:t>DEMO SNAPSHOT: 2026-10-28  ·  10 PRODUCTS  ·  3 LOCATIONS  ·  120 ORDERS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38912" y="411480"/>
            <a:ext cx="73152" cy="393192"/>
          </a:xfrm>
          <a:prstGeom prst="rect">
            <a:avLst/>
          </a:prstGeom>
          <a:solidFill>
            <a:srgbClr val="72DE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8229600" cy="320040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72DED1"/>
                </a:solidFill>
                <a:latin typeface="Aptos"/>
              </a:defRPr>
            </a:pPr>
            <a:r>
              <a:t>09  /  RETAILIQ COPILOT  ·  FLEZI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987552"/>
            <a:ext cx="10972800" cy="612648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3100" b="1">
                <a:solidFill>
                  <a:srgbClr val="EAF2FF"/>
                </a:solidFill>
                <a:latin typeface="Aptos"/>
              </a:defRPr>
            </a:pPr>
            <a:r>
              <a:t>Four queries, one assistant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09928"/>
            <a:ext cx="10881360" cy="493776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9CADC6"/>
                </a:solidFill>
                <a:latin typeface="Aptos"/>
              </a:defRPr>
            </a:pPr>
            <a:r>
              <a:t>Live demo: 4 tasks mapped to the exact Week 1 project outcome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6528816"/>
            <a:ext cx="10972800" cy="10972"/>
          </a:xfrm>
          <a:prstGeom prst="rect">
            <a:avLst/>
          </a:prstGeom>
          <a:solidFill>
            <a:srgbClr val="3042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47104"/>
            <a:ext cx="7315200" cy="219456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9CADC6"/>
                </a:solidFill>
                <a:latin typeface="Aptos"/>
              </a:defRPr>
            </a:pPr>
            <a:r>
              <a:t>DOMAIN #15  ·  RETAIL / E-COMMERCE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547104"/>
            <a:ext cx="731520" cy="219456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9CADC6"/>
                </a:solidFill>
                <a:latin typeface="Aptos"/>
              </a:defRPr>
            </a:pPr>
            <a:r>
              <a:t>09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" y="2212848"/>
            <a:ext cx="10561320" cy="768096"/>
          </a:xfrm>
          <a:prstGeom prst="roundRect">
            <a:avLst/>
          </a:prstGeom>
          <a:solidFill>
            <a:srgbClr val="172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2386584"/>
            <a:ext cx="438912" cy="274320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72DED1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27048" y="2377440"/>
            <a:ext cx="1828800" cy="320040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9CADC6"/>
                </a:solidFill>
                <a:latin typeface="Aptos"/>
              </a:defRPr>
            </a:pPr>
            <a:r>
              <a:t>INVENTORY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2350008"/>
            <a:ext cx="7589520" cy="475488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EAF2FF"/>
                </a:solidFill>
                <a:latin typeface="Aptos"/>
              </a:defRPr>
            </a:pPr>
            <a:r>
              <a:t>How many units of AlphaBook Pro 14 are currently in stock?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8096" y="3145536"/>
            <a:ext cx="10561320" cy="768096"/>
          </a:xfrm>
          <a:prstGeom prst="roundRect">
            <a:avLst/>
          </a:prstGeom>
          <a:solidFill>
            <a:srgbClr val="172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3319272"/>
            <a:ext cx="438912" cy="274320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72DED1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7048" y="3310128"/>
            <a:ext cx="1828800" cy="320040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9CADC6"/>
                </a:solidFill>
                <a:latin typeface="Aptos"/>
              </a:defRPr>
            </a:pPr>
            <a:r>
              <a:t>SALES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3282696"/>
            <a:ext cx="7589520" cy="475488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EAF2FF"/>
                </a:solidFill>
                <a:latin typeface="Aptos"/>
              </a:defRPr>
            </a:pPr>
            <a:r>
              <a:t>What is the revenue this month?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" y="4078224"/>
            <a:ext cx="10561320" cy="768096"/>
          </a:xfrm>
          <a:prstGeom prst="roundRect">
            <a:avLst/>
          </a:prstGeom>
          <a:solidFill>
            <a:srgbClr val="172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0976" y="4251960"/>
            <a:ext cx="438912" cy="274320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72DED1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27048" y="4242816"/>
            <a:ext cx="1828800" cy="320040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9CADC6"/>
                </a:solidFill>
                <a:latin typeface="Aptos"/>
              </a:defRPr>
            </a:pPr>
            <a:r>
              <a:t>RANKING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4215384"/>
            <a:ext cx="7589520" cy="475488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EAF2FF"/>
                </a:solidFill>
                <a:latin typeface="Aptos"/>
              </a:defRPr>
            </a:pPr>
            <a:r>
              <a:t>Which products are top sellers?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8096" y="5010912"/>
            <a:ext cx="10561320" cy="768096"/>
          </a:xfrm>
          <a:prstGeom prst="roundRect">
            <a:avLst/>
          </a:prstGeom>
          <a:solidFill>
            <a:srgbClr val="172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0976" y="5184648"/>
            <a:ext cx="438912" cy="274320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72DED1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27048" y="5175504"/>
            <a:ext cx="1828800" cy="320040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9CADC6"/>
                </a:solidFill>
                <a:latin typeface="Aptos"/>
              </a:defRPr>
            </a:pPr>
            <a:r>
              <a:t>PRODUCT RAG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74720" y="5148072"/>
            <a:ext cx="7589520" cy="475488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EAF2FF"/>
                </a:solidFill>
                <a:latin typeface="Aptos"/>
              </a:defRPr>
            </a:pPr>
            <a:r>
              <a:t>Tell me about USB-C GaN Charger 65W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38912" y="411480"/>
            <a:ext cx="73152" cy="393192"/>
          </a:xfrm>
          <a:prstGeom prst="rect">
            <a:avLst/>
          </a:prstGeom>
          <a:solidFill>
            <a:srgbClr val="72DE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8229600" cy="320040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72DED1"/>
                </a:solidFill>
                <a:latin typeface="Aptos"/>
              </a:defRPr>
            </a:pPr>
            <a:r>
              <a:t>10  /  RETAILIQ COPILOT  ·  FLEZI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987552"/>
            <a:ext cx="10972800" cy="612648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3100" b="1">
                <a:solidFill>
                  <a:srgbClr val="EAF2FF"/>
                </a:solidFill>
                <a:latin typeface="Aptos"/>
              </a:defRPr>
            </a:pPr>
            <a:r>
              <a:t>Evidence, evaluation &amp; 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09928"/>
            <a:ext cx="10881360" cy="493776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9CADC6"/>
                </a:solidFill>
                <a:latin typeface="Aptos"/>
              </a:defRPr>
            </a:pPr>
            <a:r>
              <a:t>Three distinct checks — do not mix deterministic correctness with LLM quality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6528816"/>
            <a:ext cx="10972800" cy="10972"/>
          </a:xfrm>
          <a:prstGeom prst="rect">
            <a:avLst/>
          </a:prstGeom>
          <a:solidFill>
            <a:srgbClr val="3042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47104"/>
            <a:ext cx="7315200" cy="219456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9CADC6"/>
                </a:solidFill>
                <a:latin typeface="Aptos"/>
              </a:defRPr>
            </a:pPr>
            <a:r>
              <a:t>DOMAIN #15  ·  RETAIL / E-COMMERCE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547104"/>
            <a:ext cx="731520" cy="219456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9CADC6"/>
                </a:solidFill>
                <a:latin typeface="Aptos"/>
              </a:defRPr>
            </a:pPr>
            <a:r>
              <a:t>10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350008"/>
            <a:ext cx="3511296" cy="2514600"/>
          </a:xfrm>
          <a:prstGeom prst="roundRect">
            <a:avLst/>
          </a:prstGeom>
          <a:solidFill>
            <a:srgbClr val="172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9536" y="2578608"/>
            <a:ext cx="64008" cy="237744"/>
          </a:xfrm>
          <a:prstGeom prst="rect">
            <a:avLst/>
          </a:prstGeom>
          <a:solidFill>
            <a:srgbClr val="72DE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1" y="2514600"/>
            <a:ext cx="2962656" cy="393192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EAF2FF"/>
                </a:solidFill>
                <a:latin typeface="Aptos"/>
              </a:defRPr>
            </a:pPr>
            <a:r>
              <a:t>SQL &amp; BUSINESS TESTS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3054096"/>
            <a:ext cx="3072384" cy="1691640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9CADC6"/>
                </a:solidFill>
                <a:latin typeface="Aptos"/>
              </a:defRPr>
            </a:pPr>
            <a:r>
              <a:t>Deterministic pytest checks stock math, completed-only revenue, ranking, intent and read-only SQL.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34256" y="2350008"/>
            <a:ext cx="3511296" cy="2514600"/>
          </a:xfrm>
          <a:prstGeom prst="roundRect">
            <a:avLst/>
          </a:prstGeom>
          <a:solidFill>
            <a:srgbClr val="172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17136" y="2578608"/>
            <a:ext cx="64008" cy="237744"/>
          </a:xfrm>
          <a:prstGeom prst="rect">
            <a:avLst/>
          </a:prstGeom>
          <a:solidFill>
            <a:srgbClr val="72DE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0872" y="2514600"/>
            <a:ext cx="2962656" cy="393192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EAF2FF"/>
                </a:solidFill>
                <a:latin typeface="Aptos"/>
              </a:defRPr>
            </a:pPr>
            <a:r>
              <a:t>RAGAS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62856" y="3054096"/>
            <a:ext cx="3072384" cy="1691640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9CADC6"/>
                </a:solidFill>
                <a:latin typeface="Aptos"/>
              </a:defRPr>
            </a:pPr>
            <a:r>
              <a:t>Faithfulness and answer relevancy over product questions. Requires provider key and full-mode run.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2350008"/>
            <a:ext cx="3511296" cy="2514600"/>
          </a:xfrm>
          <a:prstGeom prst="roundRect">
            <a:avLst/>
          </a:prstGeom>
          <a:solidFill>
            <a:srgbClr val="172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3879" y="2578608"/>
            <a:ext cx="64008" cy="237744"/>
          </a:xfrm>
          <a:prstGeom prst="rect">
            <a:avLst/>
          </a:prstGeom>
          <a:solidFill>
            <a:srgbClr val="72DE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57616" y="2514600"/>
            <a:ext cx="2962656" cy="393192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EAF2FF"/>
                </a:solidFill>
                <a:latin typeface="Aptos"/>
              </a:defRPr>
            </a:pPr>
            <a:r>
              <a:t>LANGSMITH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3054096"/>
            <a:ext cx="3072384" cy="1691640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9CADC6"/>
                </a:solidFill>
                <a:latin typeface="Aptos"/>
              </a:defRPr>
            </a:pPr>
            <a:r>
              <a:t>Record graph runs, prompt/tool calls and execution time. Requires credentials and tracing enabled.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0664" y="5303520"/>
            <a:ext cx="10680192" cy="676656"/>
          </a:xfrm>
          <a:prstGeom prst="roundRect">
            <a:avLst/>
          </a:prstGeom>
          <a:solidFill>
            <a:srgbClr val="213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5477256"/>
            <a:ext cx="10268712" cy="384048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F4BF77"/>
                </a:solidFill>
                <a:latin typeface="Aptos"/>
              </a:defRPr>
            </a:pPr>
            <a:r>
              <a:t>VERIFIED NOW: 89 PASS, 1 SKIP; CI PENDING.  FULL-MODE INTEGRATION STILL NEEDS LOCAL CREDENTIAL TEST.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38912" y="411480"/>
            <a:ext cx="73152" cy="393192"/>
          </a:xfrm>
          <a:prstGeom prst="rect">
            <a:avLst/>
          </a:prstGeom>
          <a:solidFill>
            <a:srgbClr val="72DE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8229600" cy="320040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72DED1"/>
                </a:solidFill>
                <a:latin typeface="Aptos"/>
              </a:defRPr>
            </a:pPr>
            <a:r>
              <a:t>13  /  RETAILIQ COPILOT  ·  FLEZI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987552"/>
            <a:ext cx="10972800" cy="612648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3100" b="1">
                <a:solidFill>
                  <a:srgbClr val="EAF2FF"/>
                </a:solidFill>
                <a:latin typeface="Aptos"/>
              </a:defRPr>
            </a:pPr>
            <a:r>
              <a:t>Four-week system evolution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09928"/>
            <a:ext cx="10881360" cy="493776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9CADC6"/>
                </a:solidFill>
                <a:latin typeface="Aptos"/>
              </a:defRPr>
            </a:pPr>
            <a:r>
              <a:t>One codebase · mandatory capabilities added progressively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6528816"/>
            <a:ext cx="10972800" cy="10972"/>
          </a:xfrm>
          <a:prstGeom prst="rect">
            <a:avLst/>
          </a:prstGeom>
          <a:solidFill>
            <a:srgbClr val="3042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47104"/>
            <a:ext cx="7315200" cy="219456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9CADC6"/>
                </a:solidFill>
                <a:latin typeface="Aptos"/>
              </a:defRPr>
            </a:pPr>
            <a:r>
              <a:t>DOMAIN #15  ·  RETAIL / E-COMMERCE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547104"/>
            <a:ext cx="731520" cy="219456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9CADC6"/>
                </a:solidFill>
                <a:latin typeface="Aptos"/>
              </a:defRPr>
            </a:pPr>
            <a:r>
              <a:t>13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" y="2249424"/>
            <a:ext cx="5431536" cy="1645920"/>
          </a:xfrm>
          <a:prstGeom prst="roundRect">
            <a:avLst/>
          </a:prstGeom>
          <a:solidFill>
            <a:srgbClr val="172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77824" y="2478024"/>
            <a:ext cx="64008" cy="237744"/>
          </a:xfrm>
          <a:prstGeom prst="rect">
            <a:avLst/>
          </a:prstGeom>
          <a:solidFill>
            <a:srgbClr val="72DE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414016"/>
            <a:ext cx="4882896" cy="393192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EAF2FF"/>
                </a:solidFill>
                <a:latin typeface="Aptos"/>
              </a:defRPr>
            </a:pPr>
            <a:r>
              <a:t>W1  AI ASSISTANT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" y="2953512"/>
            <a:ext cx="4992624" cy="822960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9CADC6"/>
                </a:solidFill>
                <a:latin typeface="Aptos"/>
              </a:defRPr>
            </a:pPr>
            <a:r>
              <a:t>LangGraph + SQL + Product RAG</a:t>
            </a:r>
          </a:p>
          <a:p>
            <a:pPr>
              <a:spcAft>
                <a:spcPts val="600"/>
              </a:spcAft>
              <a:defRPr sz="1400" b="0">
                <a:solidFill>
                  <a:srgbClr val="9CADC6"/>
                </a:solidFill>
                <a:latin typeface="Aptos"/>
              </a:defRPr>
            </a:pPr>
            <a:r>
              <a:t>RAGAS · LangSmith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2783" y="2249424"/>
            <a:ext cx="5431536" cy="1645920"/>
          </a:xfrm>
          <a:prstGeom prst="roundRect">
            <a:avLst/>
          </a:prstGeom>
          <a:solidFill>
            <a:srgbClr val="172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55664" y="2478024"/>
            <a:ext cx="64008" cy="237744"/>
          </a:xfrm>
          <a:prstGeom prst="rect">
            <a:avLst/>
          </a:prstGeom>
          <a:solidFill>
            <a:srgbClr val="F4B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9399" y="2414016"/>
            <a:ext cx="4882896" cy="393192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EAF2FF"/>
                </a:solidFill>
                <a:latin typeface="Aptos"/>
              </a:defRPr>
            </a:pPr>
            <a:r>
              <a:t>W2  CONVERSATIONAL ANALYTICS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1383" y="2953512"/>
            <a:ext cx="4992624" cy="822960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9CADC6"/>
                </a:solidFill>
                <a:latin typeface="Aptos"/>
              </a:defRPr>
            </a:pPr>
            <a:r>
              <a:t>Freshness tiers · MCP inventory/order</a:t>
            </a:r>
          </a:p>
          <a:p>
            <a:pPr>
              <a:spcAft>
                <a:spcPts val="600"/>
              </a:spcAft>
              <a:defRPr sz="1400" b="0">
                <a:solidFill>
                  <a:srgbClr val="9CADC6"/>
                </a:solidFill>
                <a:latin typeface="Aptos"/>
              </a:defRPr>
            </a:pPr>
            <a:r>
              <a:t>Semantic layer · Memory · Hybrid retrieval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944" y="4078224"/>
            <a:ext cx="5431536" cy="1645920"/>
          </a:xfrm>
          <a:prstGeom prst="roundRect">
            <a:avLst/>
          </a:prstGeom>
          <a:solidFill>
            <a:srgbClr val="172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77824" y="4306824"/>
            <a:ext cx="64008" cy="237744"/>
          </a:xfrm>
          <a:prstGeom prst="rect">
            <a:avLst/>
          </a:prstGeom>
          <a:solidFill>
            <a:srgbClr val="72DE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4242816"/>
            <a:ext cx="4882896" cy="393192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EAF2FF"/>
                </a:solidFill>
                <a:latin typeface="Aptos"/>
              </a:defRPr>
            </a:pPr>
            <a:r>
              <a:t>W3  GOVERNED COPILOT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544" y="4782312"/>
            <a:ext cx="4992624" cy="822960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9CADC6"/>
                </a:solidFill>
                <a:latin typeface="Aptos"/>
              </a:defRPr>
            </a:pPr>
            <a:r>
              <a:t>HITL pricing · Row security · KPI alerts</a:t>
            </a:r>
          </a:p>
          <a:p>
            <a:pPr>
              <a:spcAft>
                <a:spcPts val="600"/>
              </a:spcAft>
              <a:defRPr sz="1400" b="0">
                <a:solidFill>
                  <a:srgbClr val="9CADC6"/>
                </a:solidFill>
                <a:latin typeface="Aptos"/>
              </a:defRPr>
            </a:pPr>
            <a:r>
              <a:t>LangFuse · DeepEval · AgentOps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72783" y="4078224"/>
            <a:ext cx="5431536" cy="1645920"/>
          </a:xfrm>
          <a:prstGeom prst="roundRect">
            <a:avLst/>
          </a:prstGeom>
          <a:solidFill>
            <a:srgbClr val="172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55664" y="4306824"/>
            <a:ext cx="64008" cy="237744"/>
          </a:xfrm>
          <a:prstGeom prst="rect">
            <a:avLst/>
          </a:prstGeom>
          <a:solidFill>
            <a:srgbClr val="F4B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399" y="4242816"/>
            <a:ext cx="4882896" cy="393192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EAF2FF"/>
                </a:solidFill>
                <a:latin typeface="Aptos"/>
              </a:defRPr>
            </a:pPr>
            <a:r>
              <a:t>W4  RETAIL OPERATING SYSTEM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01383" y="4782312"/>
            <a:ext cx="4992624" cy="822960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9CADC6"/>
                </a:solidFill>
                <a:latin typeface="Aptos"/>
              </a:defRPr>
            </a:pPr>
            <a:r>
              <a:t>5 agents · A2A · Verification loop</a:t>
            </a:r>
          </a:p>
          <a:p>
            <a:pPr>
              <a:spcAft>
                <a:spcPts val="600"/>
              </a:spcAft>
              <a:defRPr sz="1400" b="0">
                <a:solidFill>
                  <a:srgbClr val="9CADC6"/>
                </a:solidFill>
                <a:latin typeface="Aptos"/>
              </a:defRPr>
            </a:pPr>
            <a:r>
              <a:t>Order E2E + manager approval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38912" y="411480"/>
            <a:ext cx="73152" cy="393192"/>
          </a:xfrm>
          <a:prstGeom prst="rect">
            <a:avLst/>
          </a:prstGeom>
          <a:solidFill>
            <a:srgbClr val="72DE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8229600" cy="320040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72DED1"/>
                </a:solidFill>
                <a:latin typeface="Aptos"/>
              </a:defRPr>
            </a:pPr>
            <a:r>
              <a:t>14  /  RETAILIQ COPILOT  ·  FLEZI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987552"/>
            <a:ext cx="10972800" cy="612648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3100" b="1">
                <a:solidFill>
                  <a:srgbClr val="EAF2FF"/>
                </a:solidFill>
                <a:latin typeface="Aptos"/>
              </a:defRPr>
            </a:pPr>
            <a:r>
              <a:t>Week 1 demo readiness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09928"/>
            <a:ext cx="10881360" cy="493776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9CADC6"/>
                </a:solidFill>
                <a:latin typeface="Aptos"/>
              </a:defRPr>
            </a:pPr>
            <a:r>
              <a:t>Deliver a scoped, reproducible local proof — not a full retailer platform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6528816"/>
            <a:ext cx="10972800" cy="10972"/>
          </a:xfrm>
          <a:prstGeom prst="rect">
            <a:avLst/>
          </a:prstGeom>
          <a:solidFill>
            <a:srgbClr val="3042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47104"/>
            <a:ext cx="7315200" cy="219456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9CADC6"/>
                </a:solidFill>
                <a:latin typeface="Aptos"/>
              </a:defRPr>
            </a:pPr>
            <a:r>
              <a:t>DOMAIN #15  ·  RETAIL / E-COMMERCE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547104"/>
            <a:ext cx="731520" cy="219456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9CADC6"/>
                </a:solidFill>
                <a:latin typeface="Aptos"/>
              </a:defRPr>
            </a:pPr>
            <a:r>
              <a:t>14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" y="2139696"/>
            <a:ext cx="10515600" cy="539496"/>
          </a:xfrm>
          <a:prstGeom prst="roundRect">
            <a:avLst/>
          </a:prstGeom>
          <a:solidFill>
            <a:srgbClr val="172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249424"/>
            <a:ext cx="1828800" cy="274320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72DED1"/>
                </a:solidFill>
                <a:latin typeface="Aptos"/>
              </a:defRPr>
            </a:pPr>
            <a:r>
              <a:t>READY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2231136"/>
            <a:ext cx="8046720" cy="329184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EAF2FF"/>
                </a:solidFill>
                <a:latin typeface="Aptos"/>
              </a:defRPr>
            </a:pPr>
            <a:r>
              <a:t>SQLite seed + local API / browser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" y="2816352"/>
            <a:ext cx="10515600" cy="539496"/>
          </a:xfrm>
          <a:prstGeom prst="roundRect">
            <a:avLst/>
          </a:prstGeom>
          <a:solidFill>
            <a:srgbClr val="172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2926080"/>
            <a:ext cx="1828800" cy="274320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72DED1"/>
                </a:solidFill>
                <a:latin typeface="Aptos"/>
              </a:defRPr>
            </a:pPr>
            <a:r>
              <a:t>READY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2907792"/>
            <a:ext cx="8046720" cy="329184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EAF2FF"/>
                </a:solidFill>
                <a:latin typeface="Aptos"/>
              </a:defRPr>
            </a:pPr>
            <a:r>
              <a:t>89 passed; 1 skipped in local snapshot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" y="3493008"/>
            <a:ext cx="10515600" cy="539496"/>
          </a:xfrm>
          <a:prstGeom prst="roundRect">
            <a:avLst/>
          </a:prstGeom>
          <a:solidFill>
            <a:srgbClr val="172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3602736"/>
            <a:ext cx="1828800" cy="274320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72DED1"/>
                </a:solidFill>
                <a:latin typeface="Aptos"/>
              </a:defRPr>
            </a:pPr>
            <a:r>
              <a:t>READY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3584448"/>
            <a:ext cx="8046720" cy="329184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EAF2FF"/>
                </a:solidFill>
                <a:latin typeface="Aptos"/>
              </a:defRPr>
            </a:pPr>
            <a:r>
              <a:t>Four demo question flows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" y="4169663"/>
            <a:ext cx="10515600" cy="539496"/>
          </a:xfrm>
          <a:prstGeom prst="roundRect">
            <a:avLst/>
          </a:prstGeom>
          <a:solidFill>
            <a:srgbClr val="172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4128" y="4279392"/>
            <a:ext cx="1828800" cy="274320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F4BF77"/>
                </a:solidFill>
                <a:latin typeface="Aptos"/>
              </a:defRPr>
            </a:pPr>
            <a:r>
              <a:t>TO VERIFY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4261103"/>
            <a:ext cx="8046720" cy="329184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EAF2FF"/>
                </a:solidFill>
                <a:latin typeface="Aptos"/>
              </a:defRPr>
            </a:pPr>
            <a:r>
              <a:t>LangGraph + Chroma full-mode run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" y="4846320"/>
            <a:ext cx="10515600" cy="539496"/>
          </a:xfrm>
          <a:prstGeom prst="roundRect">
            <a:avLst/>
          </a:prstGeom>
          <a:solidFill>
            <a:srgbClr val="172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4128" y="4956048"/>
            <a:ext cx="1828800" cy="274320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F4BF77"/>
                </a:solidFill>
                <a:latin typeface="Aptos"/>
              </a:defRPr>
            </a:pPr>
            <a:r>
              <a:t>TO VERIFY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4937759"/>
            <a:ext cx="8046720" cy="329184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EAF2FF"/>
                </a:solidFill>
                <a:latin typeface="Aptos"/>
              </a:defRPr>
            </a:pPr>
            <a:r>
              <a:t>RAGAS scores + LangSmith trace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5528" y="5824728"/>
            <a:ext cx="10561320" cy="393192"/>
          </a:xfrm>
          <a:prstGeom prst="roundRect">
            <a:avLst/>
          </a:prstGeom>
          <a:solidFill>
            <a:srgbClr val="204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879592"/>
            <a:ext cx="10058400" cy="274320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EAF2FF"/>
                </a:solidFill>
                <a:latin typeface="Aptos"/>
              </a:defRPr>
            </a:pPr>
            <a:r>
              <a:t>DEMO GOAL: accurate stock + revenue + bestsellers + sourced product answer.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38912" y="411480"/>
            <a:ext cx="73152" cy="393192"/>
          </a:xfrm>
          <a:prstGeom prst="rect">
            <a:avLst/>
          </a:prstGeom>
          <a:solidFill>
            <a:srgbClr val="72DE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315200" cy="320040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72DED1"/>
                </a:solidFill>
                <a:latin typeface="Aptos"/>
              </a:defRPr>
            </a:pPr>
            <a:r>
              <a:t>RETAILIQ COPILOT  ·  FLEZI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987552"/>
            <a:ext cx="10972800" cy="612648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500"/>
              </a:spcAft>
              <a:defRPr sz="3000" b="1">
                <a:solidFill>
                  <a:srgbClr val="EAF2FF"/>
                </a:solidFill>
                <a:latin typeface="Aptos"/>
              </a:defRPr>
            </a:pPr>
            <a:r>
              <a:t>FDE: discover → deploy → learn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09928"/>
            <a:ext cx="10789920" cy="502920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9CADC6"/>
                </a:solidFill>
                <a:latin typeface="Aptos"/>
              </a:defRPr>
            </a:pPr>
            <a:r>
              <a:t>Problem-first delivery, rooted in a retailer’s daily decision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6528816"/>
            <a:ext cx="10972800" cy="10972"/>
          </a:xfrm>
          <a:prstGeom prst="rect">
            <a:avLst/>
          </a:prstGeom>
          <a:solidFill>
            <a:srgbClr val="3042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47104"/>
            <a:ext cx="7315200" cy="219456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9CADC6"/>
                </a:solidFill>
                <a:latin typeface="Aptos"/>
              </a:defRPr>
            </a:pPr>
            <a:r>
              <a:t>DOMAIN #15  ·  RETAIL / E-COMMERCE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547104"/>
            <a:ext cx="731520" cy="219456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9CADC6"/>
                </a:solidFill>
                <a:latin typeface="Aptos"/>
              </a:defRPr>
            </a:pPr>
          </a:p>
        </p:txBody>
      </p:sp>
      <p:sp>
        <p:nvSpPr>
          <p:cNvPr id="9" name="Rounded Rectangle 8"/>
          <p:cNvSpPr/>
          <p:nvPr/>
        </p:nvSpPr>
        <p:spPr>
          <a:xfrm>
            <a:off x="676656" y="2414016"/>
            <a:ext cx="2724912" cy="2496312"/>
          </a:xfrm>
          <a:prstGeom prst="roundRect">
            <a:avLst/>
          </a:prstGeom>
          <a:solidFill>
            <a:srgbClr val="172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0392" y="2633472"/>
            <a:ext cx="64008" cy="228600"/>
          </a:xfrm>
          <a:prstGeom prst="rect">
            <a:avLst/>
          </a:prstGeom>
          <a:solidFill>
            <a:srgbClr val="72DE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3" y="2569464"/>
            <a:ext cx="2221991" cy="411480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EAF2FF"/>
                </a:solidFill>
                <a:latin typeface="Aptos"/>
              </a:defRPr>
            </a:pPr>
            <a:r>
              <a:t>DOMAIN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3072384"/>
            <a:ext cx="2340864" cy="1755648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9CADC6"/>
                </a:solidFill>
                <a:latin typeface="Aptos"/>
              </a:defRPr>
            </a:pPr>
            <a:r>
              <a:t>Electronics &amp; Accessories</a:t>
            </a:r>
          </a:p>
          <a:p>
            <a:pPr>
              <a:spcAft>
                <a:spcPts val="500"/>
              </a:spcAft>
              <a:defRPr sz="1300" b="0">
                <a:solidFill>
                  <a:srgbClr val="9CADC6"/>
                </a:solidFill>
                <a:latin typeface="Aptos"/>
              </a:defRPr>
            </a:pPr>
            <a:r>
              <a:t>Online + physical-store inventory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75304" y="2414016"/>
            <a:ext cx="2724912" cy="2496312"/>
          </a:xfrm>
          <a:prstGeom prst="roundRect">
            <a:avLst/>
          </a:prstGeom>
          <a:solidFill>
            <a:srgbClr val="172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749040" y="2633472"/>
            <a:ext cx="64008" cy="228600"/>
          </a:xfrm>
          <a:prstGeom prst="rect">
            <a:avLst/>
          </a:prstGeom>
          <a:solidFill>
            <a:srgbClr val="F4B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13632" y="2569464"/>
            <a:ext cx="2221991" cy="411480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EAF2FF"/>
                </a:solidFill>
                <a:latin typeface="Aptos"/>
              </a:defRPr>
            </a:pPr>
            <a:r>
              <a:t>DISCOVERY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76472" y="3072384"/>
            <a:ext cx="2340864" cy="1755648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9CADC6"/>
                </a:solidFill>
                <a:latin typeface="Aptos"/>
              </a:defRPr>
            </a:pPr>
            <a:r>
              <a:t>Manual reporting hypothesis</a:t>
            </a:r>
          </a:p>
          <a:p>
            <a:pPr>
              <a:spcAft>
                <a:spcPts val="500"/>
              </a:spcAft>
              <a:defRPr sz="1300" b="0">
                <a:solidFill>
                  <a:srgbClr val="9CADC6"/>
                </a:solidFill>
                <a:latin typeface="Aptos"/>
              </a:defRPr>
            </a:pPr>
            <a:r>
              <a:t>Stakeholders and KPI definitions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73952" y="2414016"/>
            <a:ext cx="2724912" cy="2496312"/>
          </a:xfrm>
          <a:prstGeom prst="roundRect">
            <a:avLst/>
          </a:prstGeom>
          <a:solidFill>
            <a:srgbClr val="172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47688" y="2633472"/>
            <a:ext cx="64008" cy="228600"/>
          </a:xfrm>
          <a:prstGeom prst="rect">
            <a:avLst/>
          </a:prstGeom>
          <a:solidFill>
            <a:srgbClr val="72DE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12280" y="2569464"/>
            <a:ext cx="2221991" cy="411480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EAF2FF"/>
                </a:solidFill>
                <a:latin typeface="Aptos"/>
              </a:defRPr>
            </a:pPr>
            <a:r>
              <a:t>FIELD PROTOTYPE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3072384"/>
            <a:ext cx="2340864" cy="1755648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9CADC6"/>
                </a:solidFill>
                <a:latin typeface="Aptos"/>
              </a:defRPr>
            </a:pPr>
            <a:r>
              <a:t>SQL analytics + Product RAG</a:t>
            </a:r>
          </a:p>
          <a:p>
            <a:pPr>
              <a:spcAft>
                <a:spcPts val="500"/>
              </a:spcAft>
              <a:defRPr sz="1300" b="0">
                <a:solidFill>
                  <a:srgbClr val="9CADC6"/>
                </a:solidFill>
                <a:latin typeface="Aptos"/>
              </a:defRPr>
            </a:pPr>
            <a:r>
              <a:t>4 customer-facing queries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72600" y="2414016"/>
            <a:ext cx="2724912" cy="2496312"/>
          </a:xfrm>
          <a:prstGeom prst="roundRect">
            <a:avLst/>
          </a:prstGeom>
          <a:solidFill>
            <a:srgbClr val="172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546336" y="2633472"/>
            <a:ext cx="64008" cy="228600"/>
          </a:xfrm>
          <a:prstGeom prst="rect">
            <a:avLst/>
          </a:prstGeom>
          <a:solidFill>
            <a:srgbClr val="F4B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10928" y="2569464"/>
            <a:ext cx="2221991" cy="411480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EAF2FF"/>
                </a:solidFill>
                <a:latin typeface="Aptos"/>
              </a:defRPr>
            </a:pPr>
            <a:r>
              <a:t>FEEDBACK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73768" y="3072384"/>
            <a:ext cx="2340864" cy="1755648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9CADC6"/>
                </a:solidFill>
                <a:latin typeface="Aptos"/>
              </a:defRPr>
            </a:pPr>
            <a:r>
              <a:t>Test accuracy, review trace</a:t>
            </a:r>
          </a:p>
          <a:p>
            <a:pPr>
              <a:spcAft>
                <a:spcPts val="500"/>
              </a:spcAft>
              <a:defRPr sz="1300" b="0">
                <a:solidFill>
                  <a:srgbClr val="9CADC6"/>
                </a:solidFill>
                <a:latin typeface="Aptos"/>
              </a:defRPr>
            </a:pPr>
            <a:r>
              <a:t>Refine failure cases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0664" y="5294376"/>
            <a:ext cx="10661904" cy="704088"/>
          </a:xfrm>
          <a:prstGeom prst="roundRect">
            <a:avLst/>
          </a:prstGeom>
          <a:solidFill>
            <a:srgbClr val="213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5449824"/>
            <a:ext cx="10149840" cy="411480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F4BF77"/>
                </a:solidFill>
                <a:latin typeface="Aptos"/>
              </a:defRPr>
            </a:pPr>
            <a:r>
              <a:t>EVIDENCE LIMIT: business scenario and observations are synthetic; no real customer interviews claimed.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44200" y="6547104"/>
            <a:ext cx="731520" cy="219456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9CADC6"/>
                </a:solidFill>
                <a:latin typeface="Aptos"/>
              </a:defRPr>
            </a:pPr>
            <a:r>
              <a:t>03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38912" y="411480"/>
            <a:ext cx="73152" cy="393192"/>
          </a:xfrm>
          <a:prstGeom prst="rect">
            <a:avLst/>
          </a:prstGeom>
          <a:solidFill>
            <a:srgbClr val="72DE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315200" cy="320040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72DED1"/>
                </a:solidFill>
                <a:latin typeface="Aptos"/>
              </a:defRPr>
            </a:pPr>
            <a:r>
              <a:t>RETAILIQ COPILOT  ·  FLEZI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987552"/>
            <a:ext cx="10972800" cy="612648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500"/>
              </a:spcAft>
              <a:defRPr sz="3000" b="1">
                <a:solidFill>
                  <a:srgbClr val="EAF2FF"/>
                </a:solidFill>
                <a:latin typeface="Aptos"/>
              </a:defRPr>
            </a:pPr>
            <a:r>
              <a:t>Harness architecture: 5 practical layers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09928"/>
            <a:ext cx="10789920" cy="502920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9CADC6"/>
                </a:solidFill>
                <a:latin typeface="Aptos"/>
              </a:defRPr>
            </a:pPr>
            <a:r>
              <a:t>Course concepts mapped to concrete RetailIQ modules and trust boundaries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6528816"/>
            <a:ext cx="10972800" cy="10972"/>
          </a:xfrm>
          <a:prstGeom prst="rect">
            <a:avLst/>
          </a:prstGeom>
          <a:solidFill>
            <a:srgbClr val="3042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47104"/>
            <a:ext cx="7315200" cy="219456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9CADC6"/>
                </a:solidFill>
                <a:latin typeface="Aptos"/>
              </a:defRPr>
            </a:pPr>
            <a:r>
              <a:t>DOMAIN #15  ·  RETAIL / E-COMMERCE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547104"/>
            <a:ext cx="731520" cy="219456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9CADC6"/>
                </a:solidFill>
                <a:latin typeface="Aptos"/>
              </a:defRPr>
            </a:pPr>
          </a:p>
        </p:txBody>
      </p:sp>
      <p:sp>
        <p:nvSpPr>
          <p:cNvPr id="9" name="Rounded Rectangle 8"/>
          <p:cNvSpPr/>
          <p:nvPr/>
        </p:nvSpPr>
        <p:spPr>
          <a:xfrm>
            <a:off x="768096" y="2203704"/>
            <a:ext cx="10634472" cy="640080"/>
          </a:xfrm>
          <a:prstGeom prst="roundRect">
            <a:avLst/>
          </a:prstGeom>
          <a:solidFill>
            <a:srgbClr val="172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304288"/>
            <a:ext cx="2788920" cy="347472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72DED1"/>
                </a:solidFill>
                <a:latin typeface="Aptos"/>
              </a:defRPr>
            </a:pPr>
            <a:r>
              <a:t>1  EXPERIENCE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85032" y="2295144"/>
            <a:ext cx="3776472" cy="411480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EAF2FF"/>
                </a:solidFill>
                <a:latin typeface="Aptos"/>
              </a:defRPr>
            </a:pPr>
            <a:r>
              <a:t>HTML Chat UI + FastAPI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43216" y="2322576"/>
            <a:ext cx="3566160" cy="384048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9CADC6"/>
                </a:solidFill>
                <a:latin typeface="Aptos"/>
              </a:defRPr>
            </a:pPr>
            <a:r>
              <a:t>Prompt, request validation, response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8096" y="2944368"/>
            <a:ext cx="10634472" cy="640080"/>
          </a:xfrm>
          <a:prstGeom prst="roundRect">
            <a:avLst/>
          </a:prstGeom>
          <a:solidFill>
            <a:srgbClr val="172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044952"/>
            <a:ext cx="2788920" cy="347472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F4BF77"/>
                </a:solidFill>
                <a:latin typeface="Aptos"/>
              </a:defRPr>
            </a:pPr>
            <a:r>
              <a:t>2  CONTEXT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5032" y="3035808"/>
            <a:ext cx="3776472" cy="411480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EAF2FF"/>
                </a:solidFill>
                <a:latin typeface="Aptos"/>
              </a:defRPr>
            </a:pPr>
            <a:r>
              <a:t>Graph State + KPI contracts + RAG chunks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43216" y="3063240"/>
            <a:ext cx="3566160" cy="384048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9CADC6"/>
                </a:solidFill>
                <a:latin typeface="Aptos"/>
              </a:defRPr>
            </a:pPr>
            <a:r>
              <a:t>Only relevant data to each path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" y="3685032"/>
            <a:ext cx="10634472" cy="640080"/>
          </a:xfrm>
          <a:prstGeom prst="roundRect">
            <a:avLst/>
          </a:prstGeom>
          <a:solidFill>
            <a:srgbClr val="172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785616"/>
            <a:ext cx="2788920" cy="347472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72DED1"/>
                </a:solidFill>
                <a:latin typeface="Aptos"/>
              </a:defRPr>
            </a:pPr>
            <a:r>
              <a:t>3  ORCHESTRATION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85032" y="3776472"/>
            <a:ext cx="3776472" cy="411480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EAF2FF"/>
                </a:solidFill>
                <a:latin typeface="Aptos"/>
              </a:defRPr>
            </a:pPr>
            <a:r>
              <a:t>LangGraph Router + conditional edges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43216" y="3803904"/>
            <a:ext cx="3566160" cy="384048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9CADC6"/>
                </a:solidFill>
                <a:latin typeface="Aptos"/>
              </a:defRPr>
            </a:pPr>
            <a:r>
              <a:t>Explicit flow and state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8096" y="4425696"/>
            <a:ext cx="10634472" cy="640080"/>
          </a:xfrm>
          <a:prstGeom prst="roundRect">
            <a:avLst/>
          </a:prstGeom>
          <a:solidFill>
            <a:srgbClr val="172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526280"/>
            <a:ext cx="2788920" cy="347472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F4BF77"/>
                </a:solidFill>
                <a:latin typeface="Aptos"/>
              </a:defRPr>
            </a:pPr>
            <a:r>
              <a:t>4  TOOLS &amp; DATA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85032" y="4517136"/>
            <a:ext cx="3776472" cy="411480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EAF2FF"/>
                </a:solidFill>
                <a:latin typeface="Aptos"/>
              </a:defRPr>
            </a:pPr>
            <a:r>
              <a:t>Read-only SQL / Chroma Product RAG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43216" y="4544568"/>
            <a:ext cx="3566160" cy="384048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9CADC6"/>
                </a:solidFill>
                <a:latin typeface="Aptos"/>
              </a:defRPr>
            </a:pPr>
            <a:r>
              <a:t>Authoritative structured facts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8096" y="5166360"/>
            <a:ext cx="10634472" cy="640080"/>
          </a:xfrm>
          <a:prstGeom prst="roundRect">
            <a:avLst/>
          </a:prstGeom>
          <a:solidFill>
            <a:srgbClr val="172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5266944"/>
            <a:ext cx="2788920" cy="347472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72DED1"/>
                </a:solidFill>
                <a:latin typeface="Aptos"/>
              </a:defRPr>
            </a:pPr>
            <a:r>
              <a:t>5  VERIFICATION &amp; OPS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85032" y="5257800"/>
            <a:ext cx="3776472" cy="411480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EAF2FF"/>
                </a:solidFill>
                <a:latin typeface="Aptos"/>
              </a:defRPr>
            </a:pPr>
            <a:r>
              <a:t>pytest / RAGAS / LangSmith / Cost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43216" y="5285232"/>
            <a:ext cx="3566160" cy="384048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9CADC6"/>
                </a:solidFill>
                <a:latin typeface="Aptos"/>
              </a:defRPr>
            </a:pPr>
            <a:r>
              <a:t>Testing, tracing and quality gates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44200" y="6547104"/>
            <a:ext cx="731520" cy="219456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9CADC6"/>
                </a:solidFill>
                <a:latin typeface="Aptos"/>
              </a:defRPr>
            </a:pPr>
            <a:r>
              <a:t>05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38912" y="411480"/>
            <a:ext cx="73152" cy="393192"/>
          </a:xfrm>
          <a:prstGeom prst="rect">
            <a:avLst/>
          </a:prstGeom>
          <a:solidFill>
            <a:srgbClr val="72DE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315200" cy="320040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72DED1"/>
                </a:solidFill>
                <a:latin typeface="Aptos"/>
              </a:defRPr>
            </a:pPr>
            <a:r>
              <a:t>RETAILIQ COPILOT  ·  FLEZI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987552"/>
            <a:ext cx="10972800" cy="612648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500"/>
              </a:spcAft>
              <a:defRPr sz="3000" b="1">
                <a:solidFill>
                  <a:srgbClr val="EAF2FF"/>
                </a:solidFill>
                <a:latin typeface="Aptos"/>
              </a:defRPr>
            </a:pPr>
            <a:r>
              <a:t>LangChain + LangGraph pattern decisions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09928"/>
            <a:ext cx="10789920" cy="502920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9CADC6"/>
                </a:solidFill>
                <a:latin typeface="Aptos"/>
              </a:defRPr>
            </a:pPr>
            <a:r>
              <a:t>Demonstrate concept selection without pretending Week 1 is multi-agent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6528816"/>
            <a:ext cx="10972800" cy="10972"/>
          </a:xfrm>
          <a:prstGeom prst="rect">
            <a:avLst/>
          </a:prstGeom>
          <a:solidFill>
            <a:srgbClr val="3042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47104"/>
            <a:ext cx="7315200" cy="219456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9CADC6"/>
                </a:solidFill>
                <a:latin typeface="Aptos"/>
              </a:defRPr>
            </a:pPr>
            <a:r>
              <a:t>DOMAIN #15  ·  RETAIL / E-COMMERCE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547104"/>
            <a:ext cx="731520" cy="219456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9CADC6"/>
                </a:solidFill>
                <a:latin typeface="Aptos"/>
              </a:defRPr>
            </a:pPr>
          </a:p>
        </p:txBody>
      </p:sp>
      <p:sp>
        <p:nvSpPr>
          <p:cNvPr id="9" name="Rounded Rectangle 8"/>
          <p:cNvSpPr/>
          <p:nvPr/>
        </p:nvSpPr>
        <p:spPr>
          <a:xfrm>
            <a:off x="722376" y="2240280"/>
            <a:ext cx="5458968" cy="1069848"/>
          </a:xfrm>
          <a:prstGeom prst="roundRect">
            <a:avLst/>
          </a:prstGeom>
          <a:solidFill>
            <a:srgbClr val="172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2377440"/>
            <a:ext cx="2194560" cy="320040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F4BF77"/>
                </a:solidFill>
                <a:latin typeface="Aptos"/>
              </a:defRPr>
            </a:pPr>
            <a:r>
              <a:t>CHAIN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71416" y="2377440"/>
            <a:ext cx="1499616" cy="310896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9CADC6"/>
                </a:solidFill>
                <a:latin typeface="Aptos"/>
              </a:defRPr>
            </a:pPr>
            <a:r>
              <a:t>CONCEPTUAL SEQUENCE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761488"/>
            <a:ext cx="5047488" cy="356616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EAF2FF"/>
                </a:solidFill>
                <a:latin typeface="Aptos"/>
              </a:defRPr>
            </a:pPr>
            <a:r>
              <a:t>Retrieval → context → answer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91656" y="2240280"/>
            <a:ext cx="5458968" cy="1069848"/>
          </a:xfrm>
          <a:prstGeom prst="roundRect">
            <a:avLst/>
          </a:prstGeom>
          <a:solidFill>
            <a:srgbClr val="172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01968" y="2377440"/>
            <a:ext cx="2194560" cy="320040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72DED1"/>
                </a:solidFill>
                <a:latin typeface="Aptos"/>
              </a:defRPr>
            </a:pPr>
            <a:r>
              <a:t>ROUTER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0696" y="2377440"/>
            <a:ext cx="1499616" cy="310896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9CADC6"/>
                </a:solidFill>
                <a:latin typeface="Aptos"/>
              </a:defRPr>
            </a:pPr>
            <a:r>
              <a:t>IMPLEMENTED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74536" y="2761488"/>
            <a:ext cx="5047488" cy="356616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EAF2FF"/>
                </a:solidFill>
                <a:latin typeface="Aptos"/>
              </a:defRPr>
            </a:pPr>
            <a:r>
              <a:t>Stock / revenue / top / product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2376" y="3474720"/>
            <a:ext cx="5458968" cy="1069848"/>
          </a:xfrm>
          <a:prstGeom prst="roundRect">
            <a:avLst/>
          </a:prstGeom>
          <a:solidFill>
            <a:srgbClr val="172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3611880"/>
            <a:ext cx="2194560" cy="320040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72DED1"/>
                </a:solidFill>
                <a:latin typeface="Aptos"/>
              </a:defRPr>
            </a:pPr>
            <a:r>
              <a:t>CUSTOM WORKFLOW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71416" y="3611880"/>
            <a:ext cx="1499616" cy="310896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9CADC6"/>
                </a:solidFill>
                <a:latin typeface="Aptos"/>
              </a:defRPr>
            </a:pPr>
            <a:r>
              <a:t>IMPLEMENTED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" y="3995928"/>
            <a:ext cx="5047488" cy="356616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EAF2FF"/>
                </a:solidFill>
                <a:latin typeface="Aptos"/>
              </a:defRPr>
            </a:pPr>
            <a:r>
              <a:t>LangGraph conditional graph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91656" y="3474720"/>
            <a:ext cx="5458968" cy="1069848"/>
          </a:xfrm>
          <a:prstGeom prst="roundRect">
            <a:avLst/>
          </a:prstGeom>
          <a:solidFill>
            <a:srgbClr val="172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1968" y="3611880"/>
            <a:ext cx="2194560" cy="320040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72DED1"/>
                </a:solidFill>
                <a:latin typeface="Aptos"/>
              </a:defRPr>
            </a:pPr>
            <a:r>
              <a:t>TOOL-USING FLOW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40696" y="3611880"/>
            <a:ext cx="1499616" cy="310896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9CADC6"/>
                </a:solidFill>
                <a:latin typeface="Aptos"/>
              </a:defRPr>
            </a:pPr>
            <a:r>
              <a:t>IMPLEMENTED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74536" y="3995928"/>
            <a:ext cx="5047488" cy="356616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EAF2FF"/>
                </a:solidFill>
                <a:latin typeface="Aptos"/>
              </a:defRPr>
            </a:pPr>
            <a:r>
              <a:t>LangChain @tool for SQL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2376" y="4709160"/>
            <a:ext cx="5458968" cy="1069848"/>
          </a:xfrm>
          <a:prstGeom prst="roundRect">
            <a:avLst/>
          </a:prstGeom>
          <a:solidFill>
            <a:srgbClr val="172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4846320"/>
            <a:ext cx="2194560" cy="320040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F4BF77"/>
                </a:solidFill>
                <a:latin typeface="Aptos"/>
              </a:defRPr>
            </a:pPr>
            <a:r>
              <a:t>SUBAGENT / HANDOFF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71416" y="4846320"/>
            <a:ext cx="1499616" cy="310896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9CADC6"/>
                </a:solidFill>
                <a:latin typeface="Aptos"/>
              </a:defRPr>
            </a:pPr>
            <a:r>
              <a:t>WEEK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5256" y="5230368"/>
            <a:ext cx="5047488" cy="356616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EAF2FF"/>
                </a:solidFill>
                <a:latin typeface="Aptos"/>
              </a:defRPr>
            </a:pPr>
            <a:r>
              <a:t>Separate domain agents / transfers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91656" y="4709160"/>
            <a:ext cx="5458968" cy="1069848"/>
          </a:xfrm>
          <a:prstGeom prst="roundRect">
            <a:avLst/>
          </a:prstGeom>
          <a:solidFill>
            <a:srgbClr val="172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01968" y="4846320"/>
            <a:ext cx="2194560" cy="320040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F4BF77"/>
                </a:solidFill>
                <a:latin typeface="Aptos"/>
              </a:defRPr>
            </a:pPr>
            <a:r>
              <a:t>SKILL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40696" y="4846320"/>
            <a:ext cx="1499616" cy="310896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9CADC6"/>
                </a:solidFill>
                <a:latin typeface="Aptos"/>
              </a:defRPr>
            </a:pPr>
            <a:r>
              <a:t>NOT IMPLEMENTED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4536" y="5230368"/>
            <a:ext cx="5047488" cy="356616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EAF2FF"/>
                </a:solidFill>
                <a:latin typeface="Aptos"/>
              </a:defRPr>
            </a:pPr>
            <a:r>
              <a:t>Load specialist guidance on demand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44200" y="6547104"/>
            <a:ext cx="731520" cy="219456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9CADC6"/>
                </a:solidFill>
                <a:latin typeface="Aptos"/>
              </a:defRPr>
            </a:pPr>
            <a:r>
              <a:t>07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38912" y="411480"/>
            <a:ext cx="73152" cy="393192"/>
          </a:xfrm>
          <a:prstGeom prst="rect">
            <a:avLst/>
          </a:prstGeom>
          <a:solidFill>
            <a:srgbClr val="72DE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315200" cy="320040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72DED1"/>
                </a:solidFill>
                <a:latin typeface="Aptos"/>
              </a:defRPr>
            </a:pPr>
            <a:r>
              <a:t>RETAILIQ COPILOT  ·  FLEZI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987552"/>
            <a:ext cx="10972800" cy="612648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500"/>
              </a:spcAft>
              <a:defRPr sz="3000" b="1">
                <a:solidFill>
                  <a:srgbClr val="EAF2FF"/>
                </a:solidFill>
                <a:latin typeface="Aptos"/>
              </a:defRPr>
            </a:pPr>
            <a:r>
              <a:t>Agent cost &amp; ROI: assumptions matter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09928"/>
            <a:ext cx="10789920" cy="502920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9CADC6"/>
                </a:solidFill>
                <a:latin typeface="Aptos"/>
              </a:defRPr>
            </a:pPr>
            <a:r>
              <a:t>A worked financial model is required; no actual savings have been measured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6528816"/>
            <a:ext cx="10972800" cy="10972"/>
          </a:xfrm>
          <a:prstGeom prst="rect">
            <a:avLst/>
          </a:prstGeom>
          <a:solidFill>
            <a:srgbClr val="3042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47104"/>
            <a:ext cx="7315200" cy="219456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9CADC6"/>
                </a:solidFill>
                <a:latin typeface="Aptos"/>
              </a:defRPr>
            </a:pPr>
            <a:r>
              <a:t>DOMAIN #15  ·  RETAIL / E-COMMERCE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547104"/>
            <a:ext cx="731520" cy="219456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9CADC6"/>
                </a:solidFill>
                <a:latin typeface="Aptos"/>
              </a:defRPr>
            </a:pPr>
          </a:p>
        </p:txBody>
      </p:sp>
      <p:sp>
        <p:nvSpPr>
          <p:cNvPr id="9" name="Rounded Rectangle 8"/>
          <p:cNvSpPr/>
          <p:nvPr/>
        </p:nvSpPr>
        <p:spPr>
          <a:xfrm>
            <a:off x="685800" y="2276856"/>
            <a:ext cx="3401568" cy="2414016"/>
          </a:xfrm>
          <a:prstGeom prst="roundRect">
            <a:avLst/>
          </a:prstGeom>
          <a:solidFill>
            <a:srgbClr val="172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9536" y="2496312"/>
            <a:ext cx="64008" cy="228600"/>
          </a:xfrm>
          <a:prstGeom prst="rect">
            <a:avLst/>
          </a:prstGeom>
          <a:solidFill>
            <a:srgbClr val="72DE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2432304"/>
            <a:ext cx="2898648" cy="411480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EAF2FF"/>
                </a:solidFill>
                <a:latin typeface="Aptos"/>
              </a:defRPr>
            </a:pPr>
            <a:r>
              <a:t>USAGE COST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2935224"/>
            <a:ext cx="3017520" cy="1673352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9CADC6"/>
                </a:solidFill>
                <a:latin typeface="Aptos"/>
              </a:defRPr>
            </a:pPr>
            <a:r>
              <a:t>Monthly LLM: input tokens + output tokens; embeddings + evaluation + hosting/ops.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2276856"/>
            <a:ext cx="3401568" cy="2414016"/>
          </a:xfrm>
          <a:prstGeom prst="roundRect">
            <a:avLst/>
          </a:prstGeom>
          <a:solidFill>
            <a:srgbClr val="172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25696" y="2496312"/>
            <a:ext cx="64008" cy="228600"/>
          </a:xfrm>
          <a:prstGeom prst="rect">
            <a:avLst/>
          </a:prstGeom>
          <a:solidFill>
            <a:srgbClr val="F4B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90288" y="2432304"/>
            <a:ext cx="2898648" cy="411480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EAF2FF"/>
                </a:solidFill>
                <a:latin typeface="Aptos"/>
              </a:defRPr>
            </a:pPr>
            <a:r>
              <a:t>ILLUSTRATIVE SAVINGS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53128" y="2935224"/>
            <a:ext cx="3017520" cy="1673352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9CADC6"/>
                </a:solidFill>
                <a:latin typeface="Aptos"/>
              </a:defRPr>
            </a:pPr>
            <a:r>
              <a:t>1,000 queries × 60% benefited × 4 minutes saved × 150k VND/hour = 6m VND.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18120" y="2276856"/>
            <a:ext cx="3401568" cy="2414016"/>
          </a:xfrm>
          <a:prstGeom prst="roundRect">
            <a:avLst/>
          </a:prstGeom>
          <a:solidFill>
            <a:srgbClr val="172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91856" y="2496312"/>
            <a:ext cx="64008" cy="228600"/>
          </a:xfrm>
          <a:prstGeom prst="rect">
            <a:avLst/>
          </a:prstGeom>
          <a:solidFill>
            <a:srgbClr val="72DE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56448" y="2432304"/>
            <a:ext cx="2898648" cy="411480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EAF2FF"/>
                </a:solidFill>
                <a:latin typeface="Aptos"/>
              </a:defRPr>
            </a:pPr>
            <a:r>
              <a:t>PAYBACK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19288" y="2935224"/>
            <a:ext cx="3017520" cy="1673352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9CADC6"/>
                </a:solidFill>
                <a:latin typeface="Aptos"/>
              </a:defRPr>
            </a:pPr>
            <a:r>
              <a:t>Net benefit = 6m − 1.2m = 4.8m VND/month. Build cost 18m → 3.75 months.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065776"/>
            <a:ext cx="10607040" cy="905256"/>
          </a:xfrm>
          <a:prstGeom prst="roundRect">
            <a:avLst/>
          </a:prstGeom>
          <a:solidFill>
            <a:srgbClr val="213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7552" y="5221224"/>
            <a:ext cx="10104120" cy="621792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F4BF77"/>
                </a:solidFill>
                <a:latin typeface="Aptos"/>
              </a:defRPr>
            </a:pPr>
            <a:r>
              <a:t>ALL VALUES ARE ASSUMPTIONS. Actual ROI needs LangSmith tokens, current model rates, measured handling time and human QA.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44200" y="6547104"/>
            <a:ext cx="731520" cy="219456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9CADC6"/>
                </a:solidFill>
                <a:latin typeface="Aptos"/>
              </a:defRPr>
            </a:pPr>
            <a:r>
              <a:t>11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38912" y="411480"/>
            <a:ext cx="73152" cy="393192"/>
          </a:xfrm>
          <a:prstGeom prst="rect">
            <a:avLst/>
          </a:prstGeom>
          <a:solidFill>
            <a:srgbClr val="72DE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315200" cy="320040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72DED1"/>
                </a:solidFill>
                <a:latin typeface="Aptos"/>
              </a:defRPr>
            </a:pPr>
            <a:r>
              <a:t>RETAILIQ COPILOT  ·  FLEZI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987552"/>
            <a:ext cx="10972800" cy="612648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500"/>
              </a:spcAft>
              <a:defRPr sz="3000" b="1">
                <a:solidFill>
                  <a:srgbClr val="EAF2FF"/>
                </a:solidFill>
                <a:latin typeface="Aptos"/>
              </a:defRPr>
            </a:pPr>
            <a:r>
              <a:t>Testing + limitations + next verification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09928"/>
            <a:ext cx="10789920" cy="502920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9CADC6"/>
                </a:solidFill>
                <a:latin typeface="Aptos"/>
              </a:defRPr>
            </a:pPr>
            <a:r>
              <a:t>What passed locally versus what still needs real provider and LangSmith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6528816"/>
            <a:ext cx="10972800" cy="10972"/>
          </a:xfrm>
          <a:prstGeom prst="rect">
            <a:avLst/>
          </a:prstGeom>
          <a:solidFill>
            <a:srgbClr val="3042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47104"/>
            <a:ext cx="7315200" cy="219456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9CADC6"/>
                </a:solidFill>
                <a:latin typeface="Aptos"/>
              </a:defRPr>
            </a:pPr>
            <a:r>
              <a:t>DOMAIN #15  ·  RETAIL / E-COMMERCE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547104"/>
            <a:ext cx="731520" cy="219456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9CADC6"/>
                </a:solidFill>
                <a:latin typeface="Aptos"/>
              </a:defRPr>
            </a:pPr>
          </a:p>
        </p:txBody>
      </p:sp>
      <p:sp>
        <p:nvSpPr>
          <p:cNvPr id="9" name="Rounded Rectangle 8"/>
          <p:cNvSpPr/>
          <p:nvPr/>
        </p:nvSpPr>
        <p:spPr>
          <a:xfrm>
            <a:off x="676656" y="2286000"/>
            <a:ext cx="5413248" cy="2423160"/>
          </a:xfrm>
          <a:prstGeom prst="roundRect">
            <a:avLst/>
          </a:prstGeom>
          <a:solidFill>
            <a:srgbClr val="172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0392" y="2505456"/>
            <a:ext cx="64008" cy="228600"/>
          </a:xfrm>
          <a:prstGeom prst="rect">
            <a:avLst/>
          </a:prstGeom>
          <a:solidFill>
            <a:srgbClr val="72DE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3" y="2441448"/>
            <a:ext cx="4910328" cy="411480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EAF2FF"/>
                </a:solidFill>
                <a:latin typeface="Aptos"/>
              </a:defRPr>
            </a:pPr>
            <a:r>
              <a:t>VERIFIED LOCALLY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2944368"/>
            <a:ext cx="5029200" cy="1682495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9CADC6"/>
                </a:solidFill>
                <a:latin typeface="Aptos"/>
              </a:defRPr>
            </a:pPr>
            <a:r>
              <a:t>89 passed, 1 skipped in the latest local snapshot. Compiled graph CI and live provider checks remain unverified.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2286000"/>
            <a:ext cx="5276088" cy="2423160"/>
          </a:xfrm>
          <a:prstGeom prst="roundRect">
            <a:avLst/>
          </a:prstGeom>
          <a:solidFill>
            <a:srgbClr val="172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73368" y="2505456"/>
            <a:ext cx="64008" cy="228600"/>
          </a:xfrm>
          <a:prstGeom prst="rect">
            <a:avLst/>
          </a:prstGeom>
          <a:solidFill>
            <a:srgbClr val="F4B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2441448"/>
            <a:ext cx="4773168" cy="411480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EAF2FF"/>
                </a:solidFill>
                <a:latin typeface="Aptos"/>
              </a:defRPr>
            </a:pPr>
            <a:r>
              <a:t>REMAINING E2E GATES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944368"/>
            <a:ext cx="4892040" cy="1682495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9CADC6"/>
                </a:solidFill>
                <a:latin typeface="Aptos"/>
              </a:defRPr>
            </a:pPr>
            <a:r>
              <a:t>Full LangGraph + Chroma with real models; actual RAGAS scores; LangSmith trace with separate key.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2376" y="5020056"/>
            <a:ext cx="10698480" cy="905256"/>
          </a:xfrm>
          <a:prstGeom prst="roundRect">
            <a:avLst/>
          </a:prstGeom>
          <a:solidFill>
            <a:srgbClr val="213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7552" y="5212080"/>
            <a:ext cx="10131552" cy="612648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F4BF77"/>
                </a:solidFill>
                <a:latin typeface="Aptos"/>
              </a:defRPr>
            </a:pPr>
            <a:r>
              <a:t>RISKS: synthetic and snapshot data, ambiguous intent, RAG hallucination, no production authentication. W2/W3 address freshness and governance.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44200" y="6547104"/>
            <a:ext cx="731520" cy="219456"/>
          </a:xfrm>
          <a:prstGeom prst="rect">
            <a:avLst/>
          </a:prstGeom>
          <a:noFill/>
        </p:spPr>
        <p:txBody>
          <a:bodyPr wrap="square" lIns="54864" tIns="36576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9CADC6"/>
                </a:solidFill>
                <a:latin typeface="Aptos"/>
              </a:defRPr>
            </a:pPr>
            <a:r>
              <a:t>12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